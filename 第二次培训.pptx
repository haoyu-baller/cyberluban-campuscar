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75" r:id="rId2"/>
    <p:sldId id="276" r:id="rId3"/>
    <p:sldId id="277" r:id="rId4"/>
    <p:sldId id="278" r:id="rId5"/>
    <p:sldId id="279" r:id="rId6"/>
    <p:sldId id="285" r:id="rId7"/>
    <p:sldId id="273" r:id="rId8"/>
    <p:sldId id="280" r:id="rId9"/>
    <p:sldId id="281" r:id="rId10"/>
    <p:sldId id="282" r:id="rId11"/>
    <p:sldId id="283" r:id="rId12"/>
    <p:sldId id="284" r:id="rId13"/>
    <p:sldId id="287" r:id="rId14"/>
    <p:sldId id="288" r:id="rId15"/>
    <p:sldId id="289" r:id="rId16"/>
    <p:sldId id="290" r:id="rId17"/>
    <p:sldId id="291" r:id="rId18"/>
    <p:sldId id="286" r:id="rId19"/>
    <p:sldId id="293" r:id="rId20"/>
    <p:sldId id="292" r:id="rId21"/>
    <p:sldId id="257" r:id="rId22"/>
    <p:sldId id="258" r:id="rId23"/>
    <p:sldId id="259" r:id="rId24"/>
    <p:sldId id="260" r:id="rId25"/>
    <p:sldId id="261" r:id="rId26"/>
    <p:sldId id="262" r:id="rId27"/>
    <p:sldId id="263" r:id="rId28"/>
    <p:sldId id="264" r:id="rId29"/>
    <p:sldId id="299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21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8A4C7-863C-4704-9930-A6477797470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58E10-BCCD-4760-9E17-15F642B796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206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DE21C590-7E88-5B05-2C8D-11C21EB4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3ABEF2D3-E6B3-54E7-C304-D459D58AE5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5A14CC29-9919-6FC6-55B5-6FE378FD64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657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40E5D406-EF35-7D33-B102-018D0440B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EFC64C78-AD27-F459-EC71-F392C5ED0F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87A73FD0-E410-5052-0C8B-2636C72A06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261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E8FFB1EE-B887-6248-FBE6-C60F275EE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AA94CA34-7BAB-A188-0D18-F9E3C151C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1D0BEF67-CB30-A5F5-6188-0981803E60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967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D23D5BCB-79BD-3102-136D-4014C8D74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7DD89C4E-8656-6E4A-77D2-77921CCFEE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6426F54F-AF5B-DCEB-ECB7-A8BDCCACD9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871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3849AC59-7D7B-AF23-293F-F9F322C51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113ECFED-0860-C4AD-36D0-D2D7DC600A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1F023363-C993-4242-F05C-6F63951405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805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9297C720-F510-16F3-AF95-B1515D6F5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3B89D084-9593-5521-6B2C-ADFCEFA365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AC28FCC4-2840-2ADE-8C77-62584C5964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381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ECA0F6FF-EB7F-608F-E738-2E3C52227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CD6DDAA9-CE4D-1DBD-B03B-89485B7432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650775A9-78D2-6BD2-9A63-864066E352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196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32EC8EB5-ACF9-3060-CB0D-74A1A17E0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A127516B-08C4-6764-5AE5-937684A5CC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F474069D-AFDE-2E36-393B-D0980FC090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8811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B69E663B-0FE1-BE80-9AB6-475BA55B9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6A2B011A-0A11-1C11-A051-5C0C12DD7F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49887C01-EA3A-E4C3-FA3B-A4A8CE6BD4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0064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5234A9FF-6548-7B61-189F-5EA5A53A3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43D4A334-6533-DE3E-289C-6B4D290655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819432A5-029B-8688-D744-C9AC5DDFA3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0274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BCD0981F-4972-22DE-09DB-86E11EF91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E2F77D8C-B69D-314C-D75A-96869CAC8B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5B6762BF-2476-6900-7147-7AF9CEFCB7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55014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CBF8FF65-97D2-7DA5-17ED-92094B632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47CC2C8A-B913-F67B-B752-FC8972DAD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A9DAC51C-D65C-F3DB-BDD7-F33B31F29D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6827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518A1FF5-EDC6-7869-14E6-08F881F9B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E8A5DA80-B4F0-31C3-725D-FE5A698104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86A05651-17A6-8838-3144-78D72AE607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5489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13C836C6-18F5-0DEE-9BDC-8DF818AA8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88D4D0E-8953-E4B8-1BAF-129F182B3E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8B02B777-DC13-6D7B-8AA1-2B7C37D3A1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4294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E223E8B0-78BD-8927-3C72-9CF976188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AB13E32-1701-2CC8-C30E-2288B85848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F4EAE26D-DE96-8288-90CA-D6D9F15F89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2251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D73BC75E-2D9F-6C94-F1C6-1F3DFEF44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E3E3B293-C680-0B25-0473-9F1450E0E8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002BBA6C-67DA-07EC-DEF6-E3F6F1703B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1075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799B9C36-385B-70B2-F800-935D7F5A1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679233F0-5342-F6AB-0889-CA1105E3AB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8374463E-A48B-80E4-DEDC-88A40AE676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2517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1FB2FD3C-9063-0FFD-FFCD-32B5D6913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2F083F09-3897-2C3F-128B-E1AF38F297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9AF7BF7E-6FE3-243D-5A9A-E7BE4B109D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0454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7D99EFF6-A818-93E8-8D6D-1965E658C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032C3EEA-37EC-E196-B8F9-2BB541DED4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5D87A73D-56C9-805B-AFA0-69D28BD30C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5598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F70308E5-E831-DB4F-8E97-00A170437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9990A6D7-60E0-2986-B755-F37F040A78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992EBB4F-7344-1E08-9A68-45C7090AA1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92413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86406421-52C1-F6A7-0C5A-9B494AD2B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45165A0-F605-4EDD-F4D7-71D1F21150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1D8FC63A-0417-4F8E-8F40-17133B0EF1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5746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4DD2ED-DB48-798D-2296-1C6A2EEC8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0054C0A-A33A-8ADD-8DB6-97C4191C20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1082B4-077E-BE54-481E-B50BC5ED5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EC3C-CF62-4FB8-A22A-F2803277AD32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A0E026-8323-F1AB-EF99-03D979387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4843C0-2311-4AC0-9124-45F753D81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65B1F-3818-4521-BA8A-23A5D1BCF3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685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F394B9-CE55-458B-5941-7087E867E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746E2B-33B5-FEE6-4EC3-4F8916FA6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12CCE6-5CA5-9ECF-19E2-B2DE035E7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EC3C-CF62-4FB8-A22A-F2803277AD32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28D0A1-4D71-B84F-88F3-A59C1A614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2DB4E2-B4EA-B93F-91AB-93A5C4770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65B1F-3818-4521-BA8A-23A5D1BCF3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032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41DEBC-F60F-F3BA-AB13-C16D910D1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7BE733-F63D-1301-5146-F0CC80F42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7EF1B4-1991-0F20-E32F-9FEE77EF5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EC3C-CF62-4FB8-A22A-F2803277AD32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FC7261-A249-BCB8-0E16-99CC453EA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BF2EDD-2AE2-2BC0-0C51-720B77B59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65B1F-3818-4521-BA8A-23A5D1BCF3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571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6FD0D3-C210-0C2B-98BC-1ACF5FA7D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182B00-3A58-623B-A77C-EC42263E9A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23F55D-FB10-5B9D-8F92-9456BCD48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0ED9D1-80E9-FAD3-77C5-9FA1D39BD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EC3C-CF62-4FB8-A22A-F2803277AD32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4492ED-C07A-94C4-6DB9-2468E48C9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962785-2948-C38C-36EB-49AF41FA2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65B1F-3818-4521-BA8A-23A5D1BCF3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774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B0465B-BB9A-61DC-B406-2F6FB0678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27EAA6-52A7-DA5E-058F-ABFA68E67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B17E5C6-9106-1B90-4F2F-64E21B1CD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A7284FC-48C4-4B7C-5525-48758F503A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55DC634-538D-013F-04AB-818C742FB9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DDA87BA-9FB7-15CD-6C4A-4BFD0490C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EC3C-CF62-4FB8-A22A-F2803277AD32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0F5DBF1-480F-090F-A9B1-EAA5A406F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DE2CFC4-E9A7-B0E7-62C9-1EBCF537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65B1F-3818-4521-BA8A-23A5D1BCF3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978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CC4E2-1358-EF36-64DF-6F51D0D17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AFE9E31-E9E1-483F-CD08-C1A3BC255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EC3C-CF62-4FB8-A22A-F2803277AD32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53B4728-EF20-E75D-0B13-FFB86A0FF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4362D2-0270-4FA1-39D0-8A855EC8F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65B1F-3818-4521-BA8A-23A5D1BCF3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702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3B77CCB-684C-4A5A-1CAE-AF676BFBF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EC3C-CF62-4FB8-A22A-F2803277AD32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BADABD4-573C-55BF-713A-DE04E333E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BE178E-E6C7-7F6F-EA8E-95D95C3B4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65B1F-3818-4521-BA8A-23A5D1BCF3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737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D09D78-ADA1-B9DA-1EE9-E9D3B8C5B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607CE-63B8-514B-777D-BCC8782A8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9ED3B5-3452-56EA-3BE1-A2FD9D85B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E14724-B97B-91FC-11B6-AE1D662B8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EC3C-CF62-4FB8-A22A-F2803277AD32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843FDE-528E-B9FE-3FF4-5A6804C66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1E9E82-0428-865F-8992-48DD2A450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65B1F-3818-4521-BA8A-23A5D1BCF3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538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9EF90E-D00C-F74D-40AD-62B50F31C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EF190AC-04DF-388E-1F34-719ED21DD4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8093BB-F9A1-BD7A-3F98-099C46D0B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0DAFA8-E205-095C-8113-E606F2F7A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EC3C-CF62-4FB8-A22A-F2803277AD32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9E0FB7-63F6-4434-82D0-6DFF108A0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0D61A6-BF19-FF70-C2C2-ECAAE7849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65B1F-3818-4521-BA8A-23A5D1BCF3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33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08507B-FED0-52A0-DF03-8C23B481D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2AC61E1-E10F-0961-1538-AC5156561F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6BEF46-042B-74AB-B153-C2FB5A85A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EC3C-CF62-4FB8-A22A-F2803277AD32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1E1445-34EA-C1C0-F8F1-BAEBE8297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826480-6610-0C00-E3F9-655313D57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65B1F-3818-4521-BA8A-23A5D1BCF3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227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27D32F1-D7BD-158F-4B5E-AA03A57C80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D9197A2-1692-ECD7-FD80-F25051C3B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5DD429-39E6-E663-12FE-FB865388A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EC3C-CF62-4FB8-A22A-F2803277AD32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E30EEC-7C86-7138-26E5-0AA329519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FA2B3D-AA65-226D-FF5C-1144E3E20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65B1F-3818-4521-BA8A-23A5D1BCF3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5907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ACB90C0-1BA1-A8E7-8BEF-2E940D595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9B9542-C54F-896E-027D-3EB7C9869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976F1C-B6F7-2838-74F5-BE27DA044A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C3C-CF62-4FB8-A22A-F2803277AD32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04ECE4-FD5A-AA91-BEDA-6E9F755472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4BE009-C537-9F2F-E712-4698D9497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465B1F-3818-4521-BA8A-23A5D1BCF3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160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DC2A1405-358C-1104-EC1D-2B4D0510B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CC46F99C-3A30-2BF8-230A-F9E715BE4FF3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1728096D-6EA7-6D94-4EBE-0556523A8338}"/>
              </a:ext>
            </a:extLst>
          </p:cNvPr>
          <p:cNvSpPr txBox="1"/>
          <p:nvPr/>
        </p:nvSpPr>
        <p:spPr>
          <a:xfrm>
            <a:off x="1000125" y="2141220"/>
            <a:ext cx="9937750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6000" b="1" i="0" u="none" strike="noStrike" cap="none" dirty="0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机械组培训</a:t>
            </a:r>
            <a:endParaRPr lang="en-US" altLang="zh-CN" sz="6000" b="1" i="0" u="none" strike="noStrike" cap="none" dirty="0">
              <a:solidFill>
                <a:srgbClr val="F8FAF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4000" b="1" i="0" u="none" strike="noStrike" cap="none" dirty="0">
              <a:solidFill>
                <a:srgbClr val="F8FAF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dirty="0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2026-6-16</a:t>
            </a:r>
            <a:endParaRPr lang="en-US" altLang="zh-CN" sz="4000" b="1" i="0" u="none" strike="noStrike" cap="none" dirty="0">
              <a:solidFill>
                <a:srgbClr val="F8FAF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3" name="图片 2" descr="GZ+SOCH White">
            <a:extLst>
              <a:ext uri="{FF2B5EF4-FFF2-40B4-BE49-F238E27FC236}">
                <a16:creationId xmlns:a16="http://schemas.microsoft.com/office/drawing/2014/main" id="{DDE4D9F9-CA0D-F2F0-62D0-2B6D5736AD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624" r="31738"/>
          <a:stretch>
            <a:fillRect/>
          </a:stretch>
        </p:blipFill>
        <p:spPr>
          <a:xfrm>
            <a:off x="182880" y="270510"/>
            <a:ext cx="3330575" cy="53975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5923078-557C-01D0-93D2-828A29ECCEFC}"/>
              </a:ext>
            </a:extLst>
          </p:cNvPr>
          <p:cNvSpPr txBox="1"/>
          <p:nvPr/>
        </p:nvSpPr>
        <p:spPr>
          <a:xfrm>
            <a:off x="8947785" y="270510"/>
            <a:ext cx="31134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 </a:t>
            </a:r>
            <a:r>
              <a:rPr lang="zh-CN" altLang="en-US" sz="2400">
                <a:solidFill>
                  <a:schemeClr val="bg1"/>
                </a:solidFill>
                <a:latin typeface="汉仪颜楷简" panose="00020600040101010101" charset="-122"/>
                <a:ea typeface="汉仪颜楷简" panose="00020600040101010101" charset="-122"/>
                <a:sym typeface="+mn-ea"/>
              </a:rPr>
              <a:t>以技造物，智联校园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A16444-D460-8402-6D34-53448975AB5A}"/>
              </a:ext>
            </a:extLst>
          </p:cNvPr>
          <p:cNvSpPr txBox="1"/>
          <p:nvPr/>
        </p:nvSpPr>
        <p:spPr>
          <a:xfrm>
            <a:off x="4833620" y="270510"/>
            <a:ext cx="2794000" cy="4889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Cyber 鲁班</a:t>
            </a: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 2</a:t>
            </a: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026         </a:t>
            </a:r>
            <a:endParaRPr lang="zh-CN" altLang="en-US" sz="2400">
              <a:solidFill>
                <a:schemeClr val="bg1"/>
              </a:solidFill>
              <a:latin typeface="汉仪颜楷简" panose="00020600040101010101" charset="-122"/>
              <a:ea typeface="汉仪颜楷简" panose="0002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1726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E72382F7-4DA0-4854-1D7F-D627311A7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3B37A815-C22C-68A9-2CF1-F726858B9143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 descr="GZ+SOCH White">
            <a:extLst>
              <a:ext uri="{FF2B5EF4-FFF2-40B4-BE49-F238E27FC236}">
                <a16:creationId xmlns:a16="http://schemas.microsoft.com/office/drawing/2014/main" id="{6B72903C-2441-DA79-4902-1D17213E5D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624" r="31738"/>
          <a:stretch>
            <a:fillRect/>
          </a:stretch>
        </p:blipFill>
        <p:spPr>
          <a:xfrm>
            <a:off x="182880" y="270510"/>
            <a:ext cx="3330575" cy="53975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B9D360C-DE13-3B7A-12CF-7EA20A867A8D}"/>
              </a:ext>
            </a:extLst>
          </p:cNvPr>
          <p:cNvSpPr txBox="1"/>
          <p:nvPr/>
        </p:nvSpPr>
        <p:spPr>
          <a:xfrm>
            <a:off x="8947785" y="270510"/>
            <a:ext cx="31134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 </a:t>
            </a:r>
            <a:r>
              <a:rPr lang="zh-CN" altLang="en-US" sz="2400">
                <a:solidFill>
                  <a:schemeClr val="bg1"/>
                </a:solidFill>
                <a:latin typeface="汉仪颜楷简" panose="00020600040101010101" charset="-122"/>
                <a:ea typeface="汉仪颜楷简" panose="00020600040101010101" charset="-122"/>
                <a:sym typeface="+mn-ea"/>
              </a:rPr>
              <a:t>以技造物，智联校园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1D6C4F1-C323-23D2-7CF3-02F6A5694F92}"/>
              </a:ext>
            </a:extLst>
          </p:cNvPr>
          <p:cNvSpPr txBox="1"/>
          <p:nvPr/>
        </p:nvSpPr>
        <p:spPr>
          <a:xfrm>
            <a:off x="4833620" y="270510"/>
            <a:ext cx="2794000" cy="4889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Cyber 鲁班</a:t>
            </a: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 2</a:t>
            </a: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026         </a:t>
            </a:r>
            <a:endParaRPr lang="zh-CN" altLang="en-US" sz="2400">
              <a:solidFill>
                <a:schemeClr val="bg1"/>
              </a:solidFill>
              <a:latin typeface="汉仪颜楷简" panose="00020600040101010101" charset="-122"/>
              <a:ea typeface="汉仪颜楷简" panose="00020600040101010101" charset="-122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F6DCCCE-CCDF-9E8A-9ED0-0D601DA82292}"/>
              </a:ext>
            </a:extLst>
          </p:cNvPr>
          <p:cNvSpPr/>
          <p:nvPr/>
        </p:nvSpPr>
        <p:spPr>
          <a:xfrm>
            <a:off x="9464040" y="6473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CampusCar 第二次培训</a:t>
            </a:r>
            <a:endParaRPr lang="en-US" sz="10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D25A0757-0996-286C-69E8-AEB47A7B803B}"/>
              </a:ext>
            </a:extLst>
          </p:cNvPr>
          <p:cNvSpPr/>
          <p:nvPr/>
        </p:nvSpPr>
        <p:spPr>
          <a:xfrm>
            <a:off x="649224" y="88696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机械组在 CampusCar 中的位置</a:t>
            </a:r>
            <a:endParaRPr lang="en-US" sz="2900" dirty="0">
              <a:solidFill>
                <a:schemeClr val="bg1"/>
              </a:solidFill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233B3995-6595-58E5-DCDC-A776234F122F}"/>
              </a:ext>
            </a:extLst>
          </p:cNvPr>
          <p:cNvSpPr/>
          <p:nvPr/>
        </p:nvSpPr>
        <p:spPr>
          <a:xfrm>
            <a:off x="667512" y="1554480"/>
            <a:ext cx="1051560" cy="0"/>
          </a:xfrm>
          <a:prstGeom prst="line">
            <a:avLst/>
          </a:prstGeom>
          <a:noFill/>
          <a:ln w="38100">
            <a:solidFill>
              <a:srgbClr val="0B4AA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3E9CCB37-D2F3-50B8-31D4-C4A2D7F42D78}"/>
              </a:ext>
            </a:extLst>
          </p:cNvPr>
          <p:cNvSpPr/>
          <p:nvPr/>
        </p:nvSpPr>
        <p:spPr>
          <a:xfrm>
            <a:off x="685800" y="1636776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机械结构不是外围工作，而是全系统稳定性的基础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BFCA7F3E-1D87-58A0-5F2F-080B5BED5995}"/>
              </a:ext>
            </a:extLst>
          </p:cNvPr>
          <p:cNvSpPr/>
          <p:nvPr/>
        </p:nvSpPr>
        <p:spPr>
          <a:xfrm>
            <a:off x="658368" y="2073910"/>
            <a:ext cx="5212080" cy="2895854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5240">
            <a:solidFill>
              <a:srgbClr val="BFD7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54ADA7B6-6A61-BB5C-0CA7-64C250C5F36D}"/>
              </a:ext>
            </a:extLst>
          </p:cNvPr>
          <p:cNvSpPr/>
          <p:nvPr/>
        </p:nvSpPr>
        <p:spPr>
          <a:xfrm>
            <a:off x="932688" y="216992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4AA2"/>
                </a:solidFill>
              </a:rPr>
              <a:t>机械组要给哪些模块提供“物理条件”？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5B79FC66-286A-B257-94D8-44E9E6435B4C}"/>
              </a:ext>
            </a:extLst>
          </p:cNvPr>
          <p:cNvSpPr/>
          <p:nvPr/>
        </p:nvSpPr>
        <p:spPr>
          <a:xfrm>
            <a:off x="932688" y="259054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4A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RTK 天线：无遮挡、稳定固定</a:t>
            </a:r>
            <a:endParaRPr lang="en-US" sz="1400" dirty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B4775509-AB07-0CBD-13C7-1483DEE1B107}"/>
              </a:ext>
            </a:extLst>
          </p:cNvPr>
          <p:cNvSpPr/>
          <p:nvPr/>
        </p:nvSpPr>
        <p:spPr>
          <a:xfrm>
            <a:off x="932688" y="304774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4A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相机：视野、角度、减震</a:t>
            </a:r>
            <a:endParaRPr lang="en-US" sz="14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B60EE807-4406-55CF-8A7B-9DA624121063}"/>
              </a:ext>
            </a:extLst>
          </p:cNvPr>
          <p:cNvSpPr/>
          <p:nvPr/>
        </p:nvSpPr>
        <p:spPr>
          <a:xfrm>
            <a:off x="932688" y="350494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4A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NUC / 控制板：散热、接口可插拔</a:t>
            </a:r>
            <a:endParaRPr lang="en-US" sz="1400" dirty="0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8796B429-9EDB-5F2C-05BA-E23D6755A2CF}"/>
              </a:ext>
            </a:extLst>
          </p:cNvPr>
          <p:cNvSpPr/>
          <p:nvPr/>
        </p:nvSpPr>
        <p:spPr>
          <a:xfrm>
            <a:off x="932688" y="396214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4A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 / 电源：低重心、安全固定</a:t>
            </a:r>
            <a:endParaRPr lang="en-US" sz="1400" dirty="0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901AE6BB-77AD-151D-D2DB-ECD55BEB08A7}"/>
              </a:ext>
            </a:extLst>
          </p:cNvPr>
          <p:cNvSpPr/>
          <p:nvPr/>
        </p:nvSpPr>
        <p:spPr>
          <a:xfrm>
            <a:off x="932688" y="441934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4A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急停 / 线束：一手可按、线路不干涉</a:t>
            </a:r>
            <a:endParaRPr lang="en-US" sz="1400" dirty="0"/>
          </a:p>
        </p:txBody>
      </p:sp>
      <p:sp>
        <p:nvSpPr>
          <p:cNvPr id="32" name="Shape 16">
            <a:extLst>
              <a:ext uri="{FF2B5EF4-FFF2-40B4-BE49-F238E27FC236}">
                <a16:creationId xmlns:a16="http://schemas.microsoft.com/office/drawing/2014/main" id="{19368A6F-7DF1-EC16-769B-907234D7BCA7}"/>
              </a:ext>
            </a:extLst>
          </p:cNvPr>
          <p:cNvSpPr/>
          <p:nvPr/>
        </p:nvSpPr>
        <p:spPr>
          <a:xfrm>
            <a:off x="649224" y="5303520"/>
            <a:ext cx="5669280" cy="566928"/>
          </a:xfrm>
          <a:prstGeom prst="roundRect">
            <a:avLst>
              <a:gd name="adj" fmla="val 12903"/>
            </a:avLst>
          </a:prstGeom>
          <a:solidFill>
            <a:srgbClr val="FFF7ED"/>
          </a:solidFill>
          <a:ln w="1524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0F174D9A-C3FC-5735-EA7D-5C539090EAD2}"/>
              </a:ext>
            </a:extLst>
          </p:cNvPr>
          <p:cNvSpPr/>
          <p:nvPr/>
        </p:nvSpPr>
        <p:spPr>
          <a:xfrm>
            <a:off x="813816" y="5431536"/>
            <a:ext cx="534009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9A4A00"/>
                </a:solidFill>
              </a:rPr>
              <a:t>一句话：机械组给控制组“可接线”的空间，给算法组“稳定采集”的视角。</a:t>
            </a:r>
            <a:endParaRPr lang="en-US" sz="1300" dirty="0"/>
          </a:p>
        </p:txBody>
      </p:sp>
      <p:sp>
        <p:nvSpPr>
          <p:cNvPr id="40" name="AutoShape 4" descr="机器人底盘技术示意图">
            <a:extLst>
              <a:ext uri="{FF2B5EF4-FFF2-40B4-BE49-F238E27FC236}">
                <a16:creationId xmlns:a16="http://schemas.microsoft.com/office/drawing/2014/main" id="{36E9AC51-C2B5-34FE-D390-526C85400D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D9E50DF8-9046-6DB8-7A8B-F013500623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499" y="2057019"/>
            <a:ext cx="5145449" cy="2895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593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25DA7426-E658-277B-D47C-EA150473F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42C7C09F-16EA-AD2E-F7B6-5151A6EE9825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7A8C1826-F30A-AF3C-5126-C98A4993AB84}"/>
              </a:ext>
            </a:extLst>
          </p:cNvPr>
          <p:cNvSpPr txBox="1"/>
          <p:nvPr/>
        </p:nvSpPr>
        <p:spPr>
          <a:xfrm>
            <a:off x="1000125" y="2141220"/>
            <a:ext cx="9937750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6000" b="1" i="0" u="none" strike="noStrike" cap="none" dirty="0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控制组培训</a:t>
            </a:r>
            <a:endParaRPr lang="en-US" altLang="zh-CN" sz="6000" b="1" i="0" u="none" strike="noStrike" cap="none" dirty="0">
              <a:solidFill>
                <a:srgbClr val="F8FAF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4000" b="1" i="0" u="none" strike="noStrike" cap="none" dirty="0">
              <a:solidFill>
                <a:srgbClr val="F8FAF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dirty="0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2026-6-11</a:t>
            </a:r>
            <a:endParaRPr lang="en-US" altLang="zh-CN" sz="4000" b="1" i="0" u="none" strike="noStrike" cap="none" dirty="0">
              <a:solidFill>
                <a:srgbClr val="F8FAF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3" name="图片 2" descr="GZ+SOCH White">
            <a:extLst>
              <a:ext uri="{FF2B5EF4-FFF2-40B4-BE49-F238E27FC236}">
                <a16:creationId xmlns:a16="http://schemas.microsoft.com/office/drawing/2014/main" id="{85003569-A87B-4C59-D2DE-261CECDDEA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624" r="31738"/>
          <a:stretch>
            <a:fillRect/>
          </a:stretch>
        </p:blipFill>
        <p:spPr>
          <a:xfrm>
            <a:off x="182880" y="270510"/>
            <a:ext cx="3330575" cy="53975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3A4953B-9CD0-9755-DDC0-3E83535A65FE}"/>
              </a:ext>
            </a:extLst>
          </p:cNvPr>
          <p:cNvSpPr txBox="1"/>
          <p:nvPr/>
        </p:nvSpPr>
        <p:spPr>
          <a:xfrm>
            <a:off x="8947785" y="270510"/>
            <a:ext cx="31134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 </a:t>
            </a:r>
            <a:r>
              <a:rPr lang="zh-CN" altLang="en-US" sz="2400">
                <a:solidFill>
                  <a:schemeClr val="bg1"/>
                </a:solidFill>
                <a:latin typeface="汉仪颜楷简" panose="00020600040101010101" charset="-122"/>
                <a:ea typeface="汉仪颜楷简" panose="00020600040101010101" charset="-122"/>
                <a:sym typeface="+mn-ea"/>
              </a:rPr>
              <a:t>以技造物，智联校园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A6ABBC-E0A7-B5BC-D1C5-BFA3CCAF682F}"/>
              </a:ext>
            </a:extLst>
          </p:cNvPr>
          <p:cNvSpPr txBox="1"/>
          <p:nvPr/>
        </p:nvSpPr>
        <p:spPr>
          <a:xfrm>
            <a:off x="4833620" y="270510"/>
            <a:ext cx="2794000" cy="4889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Cyber 鲁班</a:t>
            </a: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 2</a:t>
            </a: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026         </a:t>
            </a:r>
            <a:endParaRPr lang="zh-CN" altLang="en-US" sz="2400">
              <a:solidFill>
                <a:schemeClr val="bg1"/>
              </a:solidFill>
              <a:latin typeface="汉仪颜楷简" panose="00020600040101010101" charset="-122"/>
              <a:ea typeface="汉仪颜楷简" panose="00020600040101010101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FDD5C83-F2E3-EEA0-BE99-0F65D426F8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79" y="929751"/>
            <a:ext cx="10759441" cy="582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0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7924560F-E98A-8680-CD54-7AC84365B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A23791EA-1212-429C-7784-257A0784F09F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 descr="GZ+SOCH White">
            <a:extLst>
              <a:ext uri="{FF2B5EF4-FFF2-40B4-BE49-F238E27FC236}">
                <a16:creationId xmlns:a16="http://schemas.microsoft.com/office/drawing/2014/main" id="{7F262AF6-572E-F177-8FFD-79D2F4464E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624" r="31738"/>
          <a:stretch>
            <a:fillRect/>
          </a:stretch>
        </p:blipFill>
        <p:spPr>
          <a:xfrm>
            <a:off x="182880" y="270510"/>
            <a:ext cx="3330575" cy="53975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F1EE225-50D6-5ECD-2310-5F8220D7EA90}"/>
              </a:ext>
            </a:extLst>
          </p:cNvPr>
          <p:cNvSpPr txBox="1"/>
          <p:nvPr/>
        </p:nvSpPr>
        <p:spPr>
          <a:xfrm>
            <a:off x="8947785" y="270510"/>
            <a:ext cx="31134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Space Grotesk"/>
              </a:rPr>
              <a:t> 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以技造物，智联校园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16BF9F-92B2-7CAA-7C89-D4F6FEFD21FA}"/>
              </a:ext>
            </a:extLst>
          </p:cNvPr>
          <p:cNvSpPr txBox="1"/>
          <p:nvPr/>
        </p:nvSpPr>
        <p:spPr>
          <a:xfrm>
            <a:off x="4833620" y="270510"/>
            <a:ext cx="2794000" cy="4889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Space Grotesk"/>
              </a:rPr>
              <a:t>Cyber 鲁班</a:t>
            </a: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2</a:t>
            </a: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Space Grotesk"/>
              </a:rPr>
              <a:t>026         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09ABE06E-825E-15DA-9E57-BF549D01BDEB}"/>
              </a:ext>
            </a:extLst>
          </p:cNvPr>
          <p:cNvSpPr/>
          <p:nvPr/>
        </p:nvSpPr>
        <p:spPr>
          <a:xfrm>
            <a:off x="594360" y="10378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RTK 天线：优先保证无遮挡和稳定</a:t>
            </a:r>
            <a:endParaRPr lang="en-US" sz="29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20408B91-3838-8335-33BB-6CC21837E8E9}"/>
              </a:ext>
            </a:extLst>
          </p:cNvPr>
          <p:cNvSpPr/>
          <p:nvPr/>
        </p:nvSpPr>
        <p:spPr>
          <a:xfrm>
            <a:off x="612648" y="1705356"/>
            <a:ext cx="1051560" cy="0"/>
          </a:xfrm>
          <a:prstGeom prst="line">
            <a:avLst/>
          </a:prstGeom>
          <a:noFill/>
          <a:ln w="38100">
            <a:solidFill>
              <a:srgbClr val="0B4AA2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C01B0FF0-A28B-92C6-597A-705EB575718F}"/>
              </a:ext>
            </a:extLst>
          </p:cNvPr>
          <p:cNvSpPr/>
          <p:nvPr/>
        </p:nvSpPr>
        <p:spPr>
          <a:xfrm>
            <a:off x="630936" y="178765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定位质量很大程度取决于机械安装位置</a:t>
            </a:r>
            <a:endParaRPr lang="en-US" sz="15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C75D98FA-F538-85FD-4ED3-34678CF57C6A}"/>
              </a:ext>
            </a:extLst>
          </p:cNvPr>
          <p:cNvSpPr/>
          <p:nvPr/>
        </p:nvSpPr>
        <p:spPr>
          <a:xfrm>
            <a:off x="5291056" y="2264323"/>
            <a:ext cx="6355080" cy="36213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5240">
            <a:solidFill>
              <a:srgbClr val="BFD7F7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68023D1E-ADE3-A0F8-47FB-671E91318110}"/>
              </a:ext>
            </a:extLst>
          </p:cNvPr>
          <p:cNvSpPr/>
          <p:nvPr/>
        </p:nvSpPr>
        <p:spPr>
          <a:xfrm>
            <a:off x="5611096" y="2538643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A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安装原则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F826B50E-44C1-F272-8362-E8EDC4F23ACD}"/>
              </a:ext>
            </a:extLst>
          </p:cNvPr>
          <p:cNvSpPr/>
          <p:nvPr/>
        </p:nvSpPr>
        <p:spPr>
          <a:xfrm>
            <a:off x="5611096" y="2995843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4A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尽量放在车体高处；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E1127E4F-8603-76D4-DDA8-32F2B28B05FB}"/>
              </a:ext>
            </a:extLst>
          </p:cNvPr>
          <p:cNvSpPr/>
          <p:nvPr/>
        </p:nvSpPr>
        <p:spPr>
          <a:xfrm>
            <a:off x="5611096" y="3434755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4A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尽量无遮挡，避免被业务模块挡住；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A2EC6C4D-43D4-A9F9-47AC-5E1BC2C19A1D}"/>
              </a:ext>
            </a:extLst>
          </p:cNvPr>
          <p:cNvSpPr/>
          <p:nvPr/>
        </p:nvSpPr>
        <p:spPr>
          <a:xfrm>
            <a:off x="5611096" y="3873667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4A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远离大电流线、电机线和金属遮挡；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88825095-99D6-4910-A535-F7A90D35A4DF}"/>
              </a:ext>
            </a:extLst>
          </p:cNvPr>
          <p:cNvSpPr/>
          <p:nvPr/>
        </p:nvSpPr>
        <p:spPr>
          <a:xfrm>
            <a:off x="5611096" y="4312579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4A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固定要稳，不要在车体震动时晃动；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1B388FCA-E6EA-9292-0A43-944F44F6A9B7}"/>
              </a:ext>
            </a:extLst>
          </p:cNvPr>
          <p:cNvSpPr/>
          <p:nvPr/>
        </p:nvSpPr>
        <p:spPr>
          <a:xfrm>
            <a:off x="5611096" y="4751491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4A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线缆要有固定点，避免拉扯接头。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Shape 16">
            <a:extLst>
              <a:ext uri="{FF2B5EF4-FFF2-40B4-BE49-F238E27FC236}">
                <a16:creationId xmlns:a16="http://schemas.microsoft.com/office/drawing/2014/main" id="{D3E178A7-2377-E7F6-B3FD-E217AD5EB32C}"/>
              </a:ext>
            </a:extLst>
          </p:cNvPr>
          <p:cNvSpPr/>
          <p:nvPr/>
        </p:nvSpPr>
        <p:spPr>
          <a:xfrm>
            <a:off x="5611096" y="5281843"/>
            <a:ext cx="5212080" cy="411480"/>
          </a:xfrm>
          <a:prstGeom prst="roundRect">
            <a:avLst>
              <a:gd name="adj" fmla="val 17778"/>
            </a:avLst>
          </a:prstGeom>
          <a:solidFill>
            <a:srgbClr val="FFF7ED"/>
          </a:solidFill>
          <a:ln w="1524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7E13A5D9-1AC4-AB1A-AB59-91F2268A33A9}"/>
              </a:ext>
            </a:extLst>
          </p:cNvPr>
          <p:cNvSpPr/>
          <p:nvPr/>
        </p:nvSpPr>
        <p:spPr>
          <a:xfrm>
            <a:off x="5775688" y="5409859"/>
            <a:ext cx="488289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9A4A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不要只问“能不能装上”，要问“能不能稳定定位”。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D1187DA9-2552-A2E2-80CF-6A1855FC4D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191"/>
          <a:stretch>
            <a:fillRect/>
          </a:stretch>
        </p:blipFill>
        <p:spPr>
          <a:xfrm>
            <a:off x="630936" y="2264323"/>
            <a:ext cx="3092470" cy="362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195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75D24958-D5CB-9654-0CE7-75B19B892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CBB5B81E-0021-E75D-16F8-27BB18FFB730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 descr="GZ+SOCH White">
            <a:extLst>
              <a:ext uri="{FF2B5EF4-FFF2-40B4-BE49-F238E27FC236}">
                <a16:creationId xmlns:a16="http://schemas.microsoft.com/office/drawing/2014/main" id="{D0A6AB49-666C-F09E-5AB7-459E61A4D3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624" r="31738"/>
          <a:stretch>
            <a:fillRect/>
          </a:stretch>
        </p:blipFill>
        <p:spPr>
          <a:xfrm>
            <a:off x="182880" y="270510"/>
            <a:ext cx="3330575" cy="53975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31497CC-C009-4AB2-136B-756D6080344C}"/>
              </a:ext>
            </a:extLst>
          </p:cNvPr>
          <p:cNvSpPr txBox="1"/>
          <p:nvPr/>
        </p:nvSpPr>
        <p:spPr>
          <a:xfrm>
            <a:off x="8947785" y="270510"/>
            <a:ext cx="31134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Space Grotesk"/>
              </a:rPr>
              <a:t> 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以技造物，智联校园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659B2E-45F1-BAE1-831E-6044E6DE0C48}"/>
              </a:ext>
            </a:extLst>
          </p:cNvPr>
          <p:cNvSpPr txBox="1"/>
          <p:nvPr/>
        </p:nvSpPr>
        <p:spPr>
          <a:xfrm>
            <a:off x="4833620" y="270510"/>
            <a:ext cx="2794000" cy="4889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Space Grotesk"/>
              </a:rPr>
              <a:t>Cyber 鲁班</a:t>
            </a: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2</a:t>
            </a: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Space Grotesk"/>
              </a:rPr>
              <a:t>026         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ED3D25CD-8654-F328-4B3C-773B456BCA30}"/>
              </a:ext>
            </a:extLst>
          </p:cNvPr>
          <p:cNvSpPr/>
          <p:nvPr/>
        </p:nvSpPr>
        <p:spPr>
          <a:xfrm>
            <a:off x="653323" y="931259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相机与传感器：安装角度决定算法效果</a:t>
            </a:r>
            <a:endParaRPr lang="en-US" sz="29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B5DFCBA2-3769-6835-5ED3-F62B340ABC18}"/>
              </a:ext>
            </a:extLst>
          </p:cNvPr>
          <p:cNvSpPr/>
          <p:nvPr/>
        </p:nvSpPr>
        <p:spPr>
          <a:xfrm>
            <a:off x="671611" y="1598771"/>
            <a:ext cx="1051560" cy="0"/>
          </a:xfrm>
          <a:prstGeom prst="line">
            <a:avLst/>
          </a:prstGeom>
          <a:noFill/>
          <a:ln w="38100">
            <a:solidFill>
              <a:srgbClr val="0B4AA2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592687D-8A9B-AD92-24D4-4A26F840267E}"/>
              </a:ext>
            </a:extLst>
          </p:cNvPr>
          <p:cNvSpPr/>
          <p:nvPr/>
        </p:nvSpPr>
        <p:spPr>
          <a:xfrm>
            <a:off x="689899" y="1681067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给算法组一个“稳定、可调、可复现”的视角</a:t>
            </a:r>
            <a:endParaRPr lang="en-US" sz="15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E0778C8F-784C-D357-2118-3890E2AF84AB}"/>
              </a:ext>
            </a:extLst>
          </p:cNvPr>
          <p:cNvSpPr/>
          <p:nvPr/>
        </p:nvSpPr>
        <p:spPr>
          <a:xfrm>
            <a:off x="767623" y="2177065"/>
            <a:ext cx="507492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5240">
            <a:solidFill>
              <a:srgbClr val="BFD7F7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14B6FB9A-5E7A-D467-3A6C-1BB252AED936}"/>
              </a:ext>
            </a:extLst>
          </p:cNvPr>
          <p:cNvSpPr/>
          <p:nvPr/>
        </p:nvSpPr>
        <p:spPr>
          <a:xfrm>
            <a:off x="1041943" y="2423953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4A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不同场景的视角需求</a:t>
            </a:r>
            <a:endParaRPr lang="en-US" sz="1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79114840-E621-1E26-09CC-9172C0FBA0FE}"/>
              </a:ext>
            </a:extLst>
          </p:cNvPr>
          <p:cNvSpPr/>
          <p:nvPr/>
        </p:nvSpPr>
        <p:spPr>
          <a:xfrm>
            <a:off x="1087663" y="2908585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A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捡球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916448ED-9081-1197-5359-B7B1C647702C}"/>
              </a:ext>
            </a:extLst>
          </p:cNvPr>
          <p:cNvSpPr/>
          <p:nvPr/>
        </p:nvSpPr>
        <p:spPr>
          <a:xfrm>
            <a:off x="2139223" y="2908585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相机看地面目标，角度要偏下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636838E9-6F2E-C109-EF6E-D7E786B356AD}"/>
              </a:ext>
            </a:extLst>
          </p:cNvPr>
          <p:cNvSpPr/>
          <p:nvPr/>
        </p:nvSpPr>
        <p:spPr>
          <a:xfrm>
            <a:off x="1087663" y="3411505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7A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路面评估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F2BAF709-9CED-27C4-32FF-4ABA58D78F40}"/>
              </a:ext>
            </a:extLst>
          </p:cNvPr>
          <p:cNvSpPr/>
          <p:nvPr/>
        </p:nvSpPr>
        <p:spPr>
          <a:xfrm>
            <a:off x="2139223" y="3411505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相机/深度相机稳定看路面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C61B86D2-2DB7-38DC-7FC6-7CFBAB8FA510}"/>
              </a:ext>
            </a:extLst>
          </p:cNvPr>
          <p:cNvSpPr/>
          <p:nvPr/>
        </p:nvSpPr>
        <p:spPr>
          <a:xfrm>
            <a:off x="1087663" y="3914425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A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安防巡逻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38AF9962-FAFA-C7AF-85D9-03B6B96C66AA}"/>
              </a:ext>
            </a:extLst>
          </p:cNvPr>
          <p:cNvSpPr/>
          <p:nvPr/>
        </p:nvSpPr>
        <p:spPr>
          <a:xfrm>
            <a:off x="2139223" y="3914425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前向或指定区域抓拍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E40F799F-C292-6F67-7D4E-BD9CBEF5785C}"/>
              </a:ext>
            </a:extLst>
          </p:cNvPr>
          <p:cNvSpPr/>
          <p:nvPr/>
        </p:nvSpPr>
        <p:spPr>
          <a:xfrm>
            <a:off x="1087663" y="4417345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7A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样本接驳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951B1984-8ACC-2383-E8C3-B63D642565D6}"/>
              </a:ext>
            </a:extLst>
          </p:cNvPr>
          <p:cNvSpPr/>
          <p:nvPr/>
        </p:nvSpPr>
        <p:spPr>
          <a:xfrm>
            <a:off x="2139223" y="4417345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交接拍照 / AprilTag 识别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Shape 19">
            <a:extLst>
              <a:ext uri="{FF2B5EF4-FFF2-40B4-BE49-F238E27FC236}">
                <a16:creationId xmlns:a16="http://schemas.microsoft.com/office/drawing/2014/main" id="{31C50492-C71C-29CC-2DC2-767862CF046C}"/>
              </a:ext>
            </a:extLst>
          </p:cNvPr>
          <p:cNvSpPr/>
          <p:nvPr/>
        </p:nvSpPr>
        <p:spPr>
          <a:xfrm>
            <a:off x="6254023" y="2177065"/>
            <a:ext cx="5074920" cy="3840480"/>
          </a:xfrm>
          <a:prstGeom prst="roundRect">
            <a:avLst>
              <a:gd name="adj" fmla="val 1905"/>
            </a:avLst>
          </a:prstGeom>
          <a:solidFill>
            <a:srgbClr val="F8FBFF"/>
          </a:solidFill>
          <a:ln w="15240">
            <a:solidFill>
              <a:srgbClr val="BFD7F7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F3768AAD-4C98-5B47-9285-FFF24605267B}"/>
              </a:ext>
            </a:extLst>
          </p:cNvPr>
          <p:cNvSpPr/>
          <p:nvPr/>
        </p:nvSpPr>
        <p:spPr>
          <a:xfrm>
            <a:off x="6528343" y="2423953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97A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支架设计要点</a:t>
            </a:r>
            <a:endParaRPr lang="en-US" sz="1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 21">
            <a:extLst>
              <a:ext uri="{FF2B5EF4-FFF2-40B4-BE49-F238E27FC236}">
                <a16:creationId xmlns:a16="http://schemas.microsoft.com/office/drawing/2014/main" id="{0554A798-DD05-F284-26CD-355DCE9B6CBC}"/>
              </a:ext>
            </a:extLst>
          </p:cNvPr>
          <p:cNvSpPr/>
          <p:nvPr/>
        </p:nvSpPr>
        <p:spPr>
          <a:xfrm>
            <a:off x="6528343" y="2908585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97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• </a:t>
            </a:r>
            <a:r>
              <a:rPr lang="en-US" sz="135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高度可调：便于不同算法测试；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Text 22">
            <a:extLst>
              <a:ext uri="{FF2B5EF4-FFF2-40B4-BE49-F238E27FC236}">
                <a16:creationId xmlns:a16="http://schemas.microsoft.com/office/drawing/2014/main" id="{5663D092-23F9-E82B-931E-94B70584E67C}"/>
              </a:ext>
            </a:extLst>
          </p:cNvPr>
          <p:cNvSpPr/>
          <p:nvPr/>
        </p:nvSpPr>
        <p:spPr>
          <a:xfrm>
            <a:off x="6528343" y="3320065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97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• </a:t>
            </a:r>
            <a:r>
              <a:rPr lang="en-US" sz="135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俯仰角可调：至少预留粗调空间；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 23">
            <a:extLst>
              <a:ext uri="{FF2B5EF4-FFF2-40B4-BE49-F238E27FC236}">
                <a16:creationId xmlns:a16="http://schemas.microsoft.com/office/drawing/2014/main" id="{D257C26C-5EC1-2542-C2D4-BC3D477A10DA}"/>
              </a:ext>
            </a:extLst>
          </p:cNvPr>
          <p:cNvSpPr/>
          <p:nvPr/>
        </p:nvSpPr>
        <p:spPr>
          <a:xfrm>
            <a:off x="6528343" y="3731545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97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• </a:t>
            </a:r>
            <a:r>
              <a:rPr lang="en-US" sz="135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抗震固定：减少图像抖动；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 24">
            <a:extLst>
              <a:ext uri="{FF2B5EF4-FFF2-40B4-BE49-F238E27FC236}">
                <a16:creationId xmlns:a16="http://schemas.microsoft.com/office/drawing/2014/main" id="{B8BEA2F9-221B-2F6E-DCFB-1F4B581AB274}"/>
              </a:ext>
            </a:extLst>
          </p:cNvPr>
          <p:cNvSpPr/>
          <p:nvPr/>
        </p:nvSpPr>
        <p:spPr>
          <a:xfrm>
            <a:off x="6528343" y="4143025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97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• </a:t>
            </a:r>
            <a:r>
              <a:rPr lang="en-US" sz="135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不遮挡雷达、急停和线束；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Text 25">
            <a:extLst>
              <a:ext uri="{FF2B5EF4-FFF2-40B4-BE49-F238E27FC236}">
                <a16:creationId xmlns:a16="http://schemas.microsoft.com/office/drawing/2014/main" id="{8523ECBA-B298-F4F9-780E-3835F28065A9}"/>
              </a:ext>
            </a:extLst>
          </p:cNvPr>
          <p:cNvSpPr/>
          <p:nvPr/>
        </p:nvSpPr>
        <p:spPr>
          <a:xfrm>
            <a:off x="6528343" y="4554505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97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• </a:t>
            </a:r>
            <a:r>
              <a:rPr lang="en-US" sz="135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方便拆装和替换相机。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Shape 26">
            <a:extLst>
              <a:ext uri="{FF2B5EF4-FFF2-40B4-BE49-F238E27FC236}">
                <a16:creationId xmlns:a16="http://schemas.microsoft.com/office/drawing/2014/main" id="{FD6C45E7-3BE9-8D2A-EF84-663331EEE068}"/>
              </a:ext>
            </a:extLst>
          </p:cNvPr>
          <p:cNvSpPr/>
          <p:nvPr/>
        </p:nvSpPr>
        <p:spPr>
          <a:xfrm>
            <a:off x="996223" y="6200425"/>
            <a:ext cx="9966960" cy="457200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 w="1524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Text 27">
            <a:extLst>
              <a:ext uri="{FF2B5EF4-FFF2-40B4-BE49-F238E27FC236}">
                <a16:creationId xmlns:a16="http://schemas.microsoft.com/office/drawing/2014/main" id="{804BE155-8FA9-319E-F3F1-CE94F10E158F}"/>
              </a:ext>
            </a:extLst>
          </p:cNvPr>
          <p:cNvSpPr/>
          <p:nvPr/>
        </p:nvSpPr>
        <p:spPr>
          <a:xfrm>
            <a:off x="1160815" y="6328441"/>
            <a:ext cx="96377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9A4A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课堂提问：你们的相机是“看前方”、还是“看地面”、还是“看交接区域”？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965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CFE0E766-2B4B-19B4-FD24-2922951A5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EB5C319B-1A11-885B-70EC-3BEA2025FBCB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 descr="GZ+SOCH White">
            <a:extLst>
              <a:ext uri="{FF2B5EF4-FFF2-40B4-BE49-F238E27FC236}">
                <a16:creationId xmlns:a16="http://schemas.microsoft.com/office/drawing/2014/main" id="{8F7EDF86-AF52-7A5F-DAAA-39D9F67CC9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624" r="31738"/>
          <a:stretch>
            <a:fillRect/>
          </a:stretch>
        </p:blipFill>
        <p:spPr>
          <a:xfrm>
            <a:off x="182880" y="270510"/>
            <a:ext cx="3330575" cy="53975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87AA84D-6C09-A196-B4F5-CAE35CDFFB78}"/>
              </a:ext>
            </a:extLst>
          </p:cNvPr>
          <p:cNvSpPr txBox="1"/>
          <p:nvPr/>
        </p:nvSpPr>
        <p:spPr>
          <a:xfrm>
            <a:off x="8947785" y="270510"/>
            <a:ext cx="31134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Space Grotesk"/>
              </a:rPr>
              <a:t> 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以技造物，智联校园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A126ED9-8146-E977-AAE5-FCABB70967A1}"/>
              </a:ext>
            </a:extLst>
          </p:cNvPr>
          <p:cNvSpPr txBox="1"/>
          <p:nvPr/>
        </p:nvSpPr>
        <p:spPr>
          <a:xfrm>
            <a:off x="4833620" y="270510"/>
            <a:ext cx="2794000" cy="4889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Space Grotesk"/>
              </a:rPr>
              <a:t>Cyber 鲁班</a:t>
            </a: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2</a:t>
            </a: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Space Grotesk"/>
              </a:rPr>
              <a:t>026         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 6">
            <a:extLst>
              <a:ext uri="{FF2B5EF4-FFF2-40B4-BE49-F238E27FC236}">
                <a16:creationId xmlns:a16="http://schemas.microsoft.com/office/drawing/2014/main" id="{C9F9B231-62C5-B4EB-FE27-DD164FFC1216}"/>
              </a:ext>
            </a:extLst>
          </p:cNvPr>
          <p:cNvSpPr/>
          <p:nvPr/>
        </p:nvSpPr>
        <p:spPr>
          <a:xfrm>
            <a:off x="527199" y="102997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NUC、控制板、电池、急停：安全与维护优先</a:t>
            </a:r>
            <a:endParaRPr lang="en-US" sz="29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Shape 7">
            <a:extLst>
              <a:ext uri="{FF2B5EF4-FFF2-40B4-BE49-F238E27FC236}">
                <a16:creationId xmlns:a16="http://schemas.microsoft.com/office/drawing/2014/main" id="{63403743-E991-94F0-9AC1-81C8FECCCB8F}"/>
              </a:ext>
            </a:extLst>
          </p:cNvPr>
          <p:cNvSpPr/>
          <p:nvPr/>
        </p:nvSpPr>
        <p:spPr>
          <a:xfrm>
            <a:off x="545487" y="1697482"/>
            <a:ext cx="1051560" cy="0"/>
          </a:xfrm>
          <a:prstGeom prst="line">
            <a:avLst/>
          </a:prstGeom>
          <a:noFill/>
          <a:ln w="38100">
            <a:solidFill>
              <a:srgbClr val="0B4AA2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Text 8">
            <a:extLst>
              <a:ext uri="{FF2B5EF4-FFF2-40B4-BE49-F238E27FC236}">
                <a16:creationId xmlns:a16="http://schemas.microsoft.com/office/drawing/2014/main" id="{4590C4D4-1E6C-CAFE-C20F-383E3439A513}"/>
              </a:ext>
            </a:extLst>
          </p:cNvPr>
          <p:cNvSpPr/>
          <p:nvPr/>
        </p:nvSpPr>
        <p:spPr>
          <a:xfrm>
            <a:off x="563775" y="177977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机械布局要让调试人员能快速接线、检查和断电</a:t>
            </a:r>
            <a:endParaRPr lang="en-US" sz="15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Shape 9">
            <a:extLst>
              <a:ext uri="{FF2B5EF4-FFF2-40B4-BE49-F238E27FC236}">
                <a16:creationId xmlns:a16="http://schemas.microsoft.com/office/drawing/2014/main" id="{4978E0AC-E891-5015-842F-5DD1FC7DF1B0}"/>
              </a:ext>
            </a:extLst>
          </p:cNvPr>
          <p:cNvSpPr/>
          <p:nvPr/>
        </p:nvSpPr>
        <p:spPr>
          <a:xfrm>
            <a:off x="636927" y="221869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5240">
            <a:solidFill>
              <a:srgbClr val="0B4AA2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Shape 10">
            <a:extLst>
              <a:ext uri="{FF2B5EF4-FFF2-40B4-BE49-F238E27FC236}">
                <a16:creationId xmlns:a16="http://schemas.microsoft.com/office/drawing/2014/main" id="{9CB2E447-BCA6-2E6A-FA27-5873A6791010}"/>
              </a:ext>
            </a:extLst>
          </p:cNvPr>
          <p:cNvSpPr/>
          <p:nvPr/>
        </p:nvSpPr>
        <p:spPr>
          <a:xfrm>
            <a:off x="1459887" y="2447290"/>
            <a:ext cx="777240" cy="777240"/>
          </a:xfrm>
          <a:prstGeom prst="ellipse">
            <a:avLst/>
          </a:prstGeom>
          <a:solidFill>
            <a:srgbClr val="0B4AA2"/>
          </a:solidFill>
          <a:ln w="12700">
            <a:solidFill>
              <a:srgbClr val="0B4AA2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Text 11">
            <a:extLst>
              <a:ext uri="{FF2B5EF4-FFF2-40B4-BE49-F238E27FC236}">
                <a16:creationId xmlns:a16="http://schemas.microsoft.com/office/drawing/2014/main" id="{1AF90EAE-00BD-C72C-CEED-117B73B1F516}"/>
              </a:ext>
            </a:extLst>
          </p:cNvPr>
          <p:cNvSpPr/>
          <p:nvPr/>
        </p:nvSpPr>
        <p:spPr>
          <a:xfrm>
            <a:off x="1459887" y="252044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💻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Text 12">
            <a:extLst>
              <a:ext uri="{FF2B5EF4-FFF2-40B4-BE49-F238E27FC236}">
                <a16:creationId xmlns:a16="http://schemas.microsoft.com/office/drawing/2014/main" id="{EEEC7E20-1138-D35F-7DF3-D6EB94DF94A3}"/>
              </a:ext>
            </a:extLst>
          </p:cNvPr>
          <p:cNvSpPr/>
          <p:nvPr/>
        </p:nvSpPr>
        <p:spPr>
          <a:xfrm>
            <a:off x="819807" y="336169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4A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NUC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Text 13">
            <a:extLst>
              <a:ext uri="{FF2B5EF4-FFF2-40B4-BE49-F238E27FC236}">
                <a16:creationId xmlns:a16="http://schemas.microsoft.com/office/drawing/2014/main" id="{611A359F-C318-96F4-6004-ADDC1FD2AAF0}"/>
              </a:ext>
            </a:extLst>
          </p:cNvPr>
          <p:cNvSpPr/>
          <p:nvPr/>
        </p:nvSpPr>
        <p:spPr>
          <a:xfrm>
            <a:off x="956967" y="386461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散热空间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USB / 网口可插拔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避免被水箱遮挡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Shape 14">
            <a:extLst>
              <a:ext uri="{FF2B5EF4-FFF2-40B4-BE49-F238E27FC236}">
                <a16:creationId xmlns:a16="http://schemas.microsoft.com/office/drawing/2014/main" id="{B5FCA8F4-477B-1F73-70B4-FE4691D1B406}"/>
              </a:ext>
            </a:extLst>
          </p:cNvPr>
          <p:cNvSpPr/>
          <p:nvPr/>
        </p:nvSpPr>
        <p:spPr>
          <a:xfrm>
            <a:off x="3471567" y="221869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524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Shape 15">
            <a:extLst>
              <a:ext uri="{FF2B5EF4-FFF2-40B4-BE49-F238E27FC236}">
                <a16:creationId xmlns:a16="http://schemas.microsoft.com/office/drawing/2014/main" id="{DBA0BE35-6587-7C70-E66D-F5405E403347}"/>
              </a:ext>
            </a:extLst>
          </p:cNvPr>
          <p:cNvSpPr/>
          <p:nvPr/>
        </p:nvSpPr>
        <p:spPr>
          <a:xfrm>
            <a:off x="4294527" y="2447290"/>
            <a:ext cx="777240" cy="77724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Text 16">
            <a:extLst>
              <a:ext uri="{FF2B5EF4-FFF2-40B4-BE49-F238E27FC236}">
                <a16:creationId xmlns:a16="http://schemas.microsoft.com/office/drawing/2014/main" id="{1E982261-2D28-7198-D24F-484644FEA768}"/>
              </a:ext>
            </a:extLst>
          </p:cNvPr>
          <p:cNvSpPr/>
          <p:nvPr/>
        </p:nvSpPr>
        <p:spPr>
          <a:xfrm>
            <a:off x="4294527" y="252044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🔌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Text 17">
            <a:extLst>
              <a:ext uri="{FF2B5EF4-FFF2-40B4-BE49-F238E27FC236}">
                <a16:creationId xmlns:a16="http://schemas.microsoft.com/office/drawing/2014/main" id="{1783AAAD-13DB-81F1-F383-006CB7C3FCF1}"/>
              </a:ext>
            </a:extLst>
          </p:cNvPr>
          <p:cNvSpPr/>
          <p:nvPr/>
        </p:nvSpPr>
        <p:spPr>
          <a:xfrm>
            <a:off x="3654447" y="336169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7A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控制板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Text 18">
            <a:extLst>
              <a:ext uri="{FF2B5EF4-FFF2-40B4-BE49-F238E27FC236}">
                <a16:creationId xmlns:a16="http://schemas.microsoft.com/office/drawing/2014/main" id="{E66B1534-7AF2-22EC-056B-66A7002C35BC}"/>
              </a:ext>
            </a:extLst>
          </p:cNvPr>
          <p:cNvSpPr/>
          <p:nvPr/>
        </p:nvSpPr>
        <p:spPr>
          <a:xfrm>
            <a:off x="3791607" y="386461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防短路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留出串口/调试接口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固定牢但可拆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Shape 19">
            <a:extLst>
              <a:ext uri="{FF2B5EF4-FFF2-40B4-BE49-F238E27FC236}">
                <a16:creationId xmlns:a16="http://schemas.microsoft.com/office/drawing/2014/main" id="{EB6F016F-3234-E531-8F68-875FD5ECC3B9}"/>
              </a:ext>
            </a:extLst>
          </p:cNvPr>
          <p:cNvSpPr/>
          <p:nvPr/>
        </p:nvSpPr>
        <p:spPr>
          <a:xfrm>
            <a:off x="6306207" y="221869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5240">
            <a:solidFill>
              <a:srgbClr val="00A36C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Shape 20">
            <a:extLst>
              <a:ext uri="{FF2B5EF4-FFF2-40B4-BE49-F238E27FC236}">
                <a16:creationId xmlns:a16="http://schemas.microsoft.com/office/drawing/2014/main" id="{3A8FF80A-6174-FEAE-7EDE-6E4DBFD605DC}"/>
              </a:ext>
            </a:extLst>
          </p:cNvPr>
          <p:cNvSpPr/>
          <p:nvPr/>
        </p:nvSpPr>
        <p:spPr>
          <a:xfrm>
            <a:off x="7129167" y="2447290"/>
            <a:ext cx="777240" cy="777240"/>
          </a:xfrm>
          <a:prstGeom prst="ellipse">
            <a:avLst/>
          </a:prstGeom>
          <a:solidFill>
            <a:srgbClr val="00A36C"/>
          </a:solidFill>
          <a:ln w="12700">
            <a:solidFill>
              <a:srgbClr val="00A36C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Text 21">
            <a:extLst>
              <a:ext uri="{FF2B5EF4-FFF2-40B4-BE49-F238E27FC236}">
                <a16:creationId xmlns:a16="http://schemas.microsoft.com/office/drawing/2014/main" id="{AB18EB7E-1BDE-8995-DFF0-C5D5049300CB}"/>
              </a:ext>
            </a:extLst>
          </p:cNvPr>
          <p:cNvSpPr/>
          <p:nvPr/>
        </p:nvSpPr>
        <p:spPr>
          <a:xfrm>
            <a:off x="7129167" y="252044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🔋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Text 22">
            <a:extLst>
              <a:ext uri="{FF2B5EF4-FFF2-40B4-BE49-F238E27FC236}">
                <a16:creationId xmlns:a16="http://schemas.microsoft.com/office/drawing/2014/main" id="{0DA43050-1387-AED9-0C89-BAA91EFA3696}"/>
              </a:ext>
            </a:extLst>
          </p:cNvPr>
          <p:cNvSpPr/>
          <p:nvPr/>
        </p:nvSpPr>
        <p:spPr>
          <a:xfrm>
            <a:off x="6489087" y="336169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3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电池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Text 23">
            <a:extLst>
              <a:ext uri="{FF2B5EF4-FFF2-40B4-BE49-F238E27FC236}">
                <a16:creationId xmlns:a16="http://schemas.microsoft.com/office/drawing/2014/main" id="{C5D5AF9B-BC38-5496-79BF-E0A5716FD672}"/>
              </a:ext>
            </a:extLst>
          </p:cNvPr>
          <p:cNvSpPr/>
          <p:nvPr/>
        </p:nvSpPr>
        <p:spPr>
          <a:xfrm>
            <a:off x="6626247" y="386461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低重心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安全固定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换电方便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Shape 24">
            <a:extLst>
              <a:ext uri="{FF2B5EF4-FFF2-40B4-BE49-F238E27FC236}">
                <a16:creationId xmlns:a16="http://schemas.microsoft.com/office/drawing/2014/main" id="{E84D5A05-D93E-2D23-8437-5C6CC57507BE}"/>
              </a:ext>
            </a:extLst>
          </p:cNvPr>
          <p:cNvSpPr/>
          <p:nvPr/>
        </p:nvSpPr>
        <p:spPr>
          <a:xfrm>
            <a:off x="9140847" y="221869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5240">
            <a:solidFill>
              <a:srgbClr val="D93838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Shape 25">
            <a:extLst>
              <a:ext uri="{FF2B5EF4-FFF2-40B4-BE49-F238E27FC236}">
                <a16:creationId xmlns:a16="http://schemas.microsoft.com/office/drawing/2014/main" id="{F3981896-B20F-360E-779B-954C41DAE6E7}"/>
              </a:ext>
            </a:extLst>
          </p:cNvPr>
          <p:cNvSpPr/>
          <p:nvPr/>
        </p:nvSpPr>
        <p:spPr>
          <a:xfrm>
            <a:off x="9963807" y="2447290"/>
            <a:ext cx="777240" cy="777240"/>
          </a:xfrm>
          <a:prstGeom prst="ellipse">
            <a:avLst/>
          </a:prstGeom>
          <a:solidFill>
            <a:srgbClr val="D93838"/>
          </a:solidFill>
          <a:ln w="12700">
            <a:solidFill>
              <a:srgbClr val="D93838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Text 26">
            <a:extLst>
              <a:ext uri="{FF2B5EF4-FFF2-40B4-BE49-F238E27FC236}">
                <a16:creationId xmlns:a16="http://schemas.microsoft.com/office/drawing/2014/main" id="{6772F153-9F81-32B6-34FD-39CC1BDA458B}"/>
              </a:ext>
            </a:extLst>
          </p:cNvPr>
          <p:cNvSpPr/>
          <p:nvPr/>
        </p:nvSpPr>
        <p:spPr>
          <a:xfrm>
            <a:off x="9963807" y="252044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⛔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Text 27">
            <a:extLst>
              <a:ext uri="{FF2B5EF4-FFF2-40B4-BE49-F238E27FC236}">
                <a16:creationId xmlns:a16="http://schemas.microsoft.com/office/drawing/2014/main" id="{4AA98A00-1A57-3FC8-A528-8F83014E6F3A}"/>
              </a:ext>
            </a:extLst>
          </p:cNvPr>
          <p:cNvSpPr/>
          <p:nvPr/>
        </p:nvSpPr>
        <p:spPr>
          <a:xfrm>
            <a:off x="9323727" y="336169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38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急停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Text 28">
            <a:extLst>
              <a:ext uri="{FF2B5EF4-FFF2-40B4-BE49-F238E27FC236}">
                <a16:creationId xmlns:a16="http://schemas.microsoft.com/office/drawing/2014/main" id="{C6EFA16B-5715-5FB0-4A14-079D62422BC2}"/>
              </a:ext>
            </a:extLst>
          </p:cNvPr>
          <p:cNvSpPr/>
          <p:nvPr/>
        </p:nvSpPr>
        <p:spPr>
          <a:xfrm>
            <a:off x="9460887" y="386461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一眼能看到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一手能按到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不被外壳挡住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Shape 29">
            <a:extLst>
              <a:ext uri="{FF2B5EF4-FFF2-40B4-BE49-F238E27FC236}">
                <a16:creationId xmlns:a16="http://schemas.microsoft.com/office/drawing/2014/main" id="{5E991C4C-60EF-27AF-EE51-95E316E1BAAF}"/>
              </a:ext>
            </a:extLst>
          </p:cNvPr>
          <p:cNvSpPr/>
          <p:nvPr/>
        </p:nvSpPr>
        <p:spPr>
          <a:xfrm>
            <a:off x="1002687" y="5922010"/>
            <a:ext cx="9692640" cy="530352"/>
          </a:xfrm>
          <a:prstGeom prst="roundRect">
            <a:avLst>
              <a:gd name="adj" fmla="val 13793"/>
            </a:avLst>
          </a:prstGeom>
          <a:solidFill>
            <a:srgbClr val="FFF7ED"/>
          </a:solidFill>
          <a:ln w="1524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Text 30">
            <a:extLst>
              <a:ext uri="{FF2B5EF4-FFF2-40B4-BE49-F238E27FC236}">
                <a16:creationId xmlns:a16="http://schemas.microsoft.com/office/drawing/2014/main" id="{D7E434BF-1D79-0B55-2DB6-DA29E43BAA56}"/>
              </a:ext>
            </a:extLst>
          </p:cNvPr>
          <p:cNvSpPr/>
          <p:nvPr/>
        </p:nvSpPr>
        <p:spPr>
          <a:xfrm>
            <a:off x="1167279" y="6050026"/>
            <a:ext cx="936345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9A4A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底线：调试时能快速看到状态、插上调试线、必要时立即急停。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3516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17789D3A-578B-07F7-55DE-FA4C968DB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A0F36AA4-A428-FFB4-AD7F-0D6D04DCEA80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 descr="GZ+SOCH White">
            <a:extLst>
              <a:ext uri="{FF2B5EF4-FFF2-40B4-BE49-F238E27FC236}">
                <a16:creationId xmlns:a16="http://schemas.microsoft.com/office/drawing/2014/main" id="{5520C01B-776D-6910-0A29-F087C44302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624" r="31738"/>
          <a:stretch>
            <a:fillRect/>
          </a:stretch>
        </p:blipFill>
        <p:spPr>
          <a:xfrm>
            <a:off x="182880" y="270510"/>
            <a:ext cx="3330575" cy="53975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D8EF92A-6E7B-BC8A-0659-4879A49271BD}"/>
              </a:ext>
            </a:extLst>
          </p:cNvPr>
          <p:cNvSpPr txBox="1"/>
          <p:nvPr/>
        </p:nvSpPr>
        <p:spPr>
          <a:xfrm>
            <a:off x="8947785" y="270510"/>
            <a:ext cx="31134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Space Grotesk"/>
              </a:rPr>
              <a:t> 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以技造物，智联校园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C4C4B6-40C2-E41F-25C0-245AA3AE8C97}"/>
              </a:ext>
            </a:extLst>
          </p:cNvPr>
          <p:cNvSpPr txBox="1"/>
          <p:nvPr/>
        </p:nvSpPr>
        <p:spPr>
          <a:xfrm>
            <a:off x="4833620" y="270510"/>
            <a:ext cx="2794000" cy="4889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Space Grotesk"/>
              </a:rPr>
              <a:t>Cyber 鲁班</a:t>
            </a: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2</a:t>
            </a: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Space Grotesk"/>
              </a:rPr>
              <a:t>026         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DC3F054D-4B34-C170-E641-E9C79FC07EB6}"/>
              </a:ext>
            </a:extLst>
          </p:cNvPr>
          <p:cNvSpPr/>
          <p:nvPr/>
        </p:nvSpPr>
        <p:spPr>
          <a:xfrm>
            <a:off x="653323" y="1001395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机械组要主动向其他组问什么</a:t>
            </a:r>
            <a:endParaRPr lang="en-US" sz="29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BF77FFAA-C2C1-A122-FDB0-C711033CEF87}"/>
              </a:ext>
            </a:extLst>
          </p:cNvPr>
          <p:cNvSpPr/>
          <p:nvPr/>
        </p:nvSpPr>
        <p:spPr>
          <a:xfrm>
            <a:off x="671611" y="1668907"/>
            <a:ext cx="1051560" cy="0"/>
          </a:xfrm>
          <a:prstGeom prst="line">
            <a:avLst/>
          </a:prstGeom>
          <a:noFill/>
          <a:ln w="38100">
            <a:solidFill>
              <a:srgbClr val="0B4AA2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DD743D5-2DA5-0606-95CB-C6C4BDBB67C2}"/>
              </a:ext>
            </a:extLst>
          </p:cNvPr>
          <p:cNvSpPr/>
          <p:nvPr/>
        </p:nvSpPr>
        <p:spPr>
          <a:xfrm>
            <a:off x="689899" y="1751203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不要等联调时才发现接口冲突</a:t>
            </a:r>
            <a:endParaRPr lang="en-US" sz="15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D02084A1-822B-3F1E-F873-3C57E61B5FD7}"/>
              </a:ext>
            </a:extLst>
          </p:cNvPr>
          <p:cNvSpPr/>
          <p:nvPr/>
        </p:nvSpPr>
        <p:spPr>
          <a:xfrm>
            <a:off x="808771" y="2098675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F7FAFF"/>
          </a:solidFill>
          <a:ln w="15240">
            <a:solidFill>
              <a:srgbClr val="0B4AA2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9308327F-BA41-273D-B69D-D34E1089BB9E}"/>
              </a:ext>
            </a:extLst>
          </p:cNvPr>
          <p:cNvSpPr/>
          <p:nvPr/>
        </p:nvSpPr>
        <p:spPr>
          <a:xfrm>
            <a:off x="1083091" y="2372995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A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问控制组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208C1B07-7A9B-25C9-ED19-07781D747C89}"/>
              </a:ext>
            </a:extLst>
          </p:cNvPr>
          <p:cNvSpPr/>
          <p:nvPr/>
        </p:nvSpPr>
        <p:spPr>
          <a:xfrm>
            <a:off x="1083091" y="2875915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4A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• </a:t>
            </a:r>
            <a:r>
              <a:rPr lang="en-US" sz="135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控制板尺寸和安装孔位？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D7BEDDC4-B177-120E-C955-BC0BB929B0E4}"/>
              </a:ext>
            </a:extLst>
          </p:cNvPr>
          <p:cNvSpPr/>
          <p:nvPr/>
        </p:nvSpPr>
        <p:spPr>
          <a:xfrm>
            <a:off x="1083091" y="3287395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4A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• </a:t>
            </a:r>
            <a:r>
              <a:rPr lang="en-US" sz="135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电源线、串口线、CAN 线从哪里走？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29A9A225-0CD7-1727-87C0-DAD947F8C016}"/>
              </a:ext>
            </a:extLst>
          </p:cNvPr>
          <p:cNvSpPr/>
          <p:nvPr/>
        </p:nvSpPr>
        <p:spPr>
          <a:xfrm>
            <a:off x="1083091" y="3698875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4A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• </a:t>
            </a:r>
            <a:r>
              <a:rPr lang="en-US" sz="135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急停按钮需要接到哪里？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04BBDA56-06FF-612C-11E4-D4DB37C5B3A4}"/>
              </a:ext>
            </a:extLst>
          </p:cNvPr>
          <p:cNvSpPr/>
          <p:nvPr/>
        </p:nvSpPr>
        <p:spPr>
          <a:xfrm>
            <a:off x="1083091" y="4110355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4A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• </a:t>
            </a:r>
            <a:r>
              <a:rPr lang="en-US" sz="135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驱动器/电源模块是否发热？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DD73622C-E1B8-55DD-00F5-3FDB0212D895}"/>
              </a:ext>
            </a:extLst>
          </p:cNvPr>
          <p:cNvSpPr/>
          <p:nvPr/>
        </p:nvSpPr>
        <p:spPr>
          <a:xfrm>
            <a:off x="1083091" y="4521835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4A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• </a:t>
            </a:r>
            <a:r>
              <a:rPr lang="en-US" sz="135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调试时哪些接口要经常插拔？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A58C396F-B823-03EE-BD80-F4A3EBEC2D68}"/>
              </a:ext>
            </a:extLst>
          </p:cNvPr>
          <p:cNvSpPr/>
          <p:nvPr/>
        </p:nvSpPr>
        <p:spPr>
          <a:xfrm>
            <a:off x="6386611" y="2098675"/>
            <a:ext cx="5074920" cy="3566160"/>
          </a:xfrm>
          <a:prstGeom prst="roundRect">
            <a:avLst>
              <a:gd name="adj" fmla="val 2051"/>
            </a:avLst>
          </a:prstGeom>
          <a:solidFill>
            <a:srgbClr val="F8FFFF"/>
          </a:solidFill>
          <a:ln w="1524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D5617F9A-5850-87B8-B9B0-CFB3B21F93B7}"/>
              </a:ext>
            </a:extLst>
          </p:cNvPr>
          <p:cNvSpPr/>
          <p:nvPr/>
        </p:nvSpPr>
        <p:spPr>
          <a:xfrm>
            <a:off x="6660931" y="2372995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97A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问算法组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77DF72EC-C121-CB92-AD46-E1F020745764}"/>
              </a:ext>
            </a:extLst>
          </p:cNvPr>
          <p:cNvSpPr/>
          <p:nvPr/>
        </p:nvSpPr>
        <p:spPr>
          <a:xfrm>
            <a:off x="6660931" y="2875915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97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• </a:t>
            </a:r>
            <a:r>
              <a:rPr lang="en-US" sz="135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相机需要看前方还是看地面？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 19">
            <a:extLst>
              <a:ext uri="{FF2B5EF4-FFF2-40B4-BE49-F238E27FC236}">
                <a16:creationId xmlns:a16="http://schemas.microsoft.com/office/drawing/2014/main" id="{5DD3A945-E623-4662-FC38-607E3CC8EF80}"/>
              </a:ext>
            </a:extLst>
          </p:cNvPr>
          <p:cNvSpPr/>
          <p:nvPr/>
        </p:nvSpPr>
        <p:spPr>
          <a:xfrm>
            <a:off x="6660931" y="3287395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97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• </a:t>
            </a:r>
            <a:r>
              <a:rPr lang="en-US" sz="135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相机高度和角度要不要可调？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BA589B61-E50E-42CF-4E87-F0273DF99C63}"/>
              </a:ext>
            </a:extLst>
          </p:cNvPr>
          <p:cNvSpPr/>
          <p:nvPr/>
        </p:nvSpPr>
        <p:spPr>
          <a:xfrm>
            <a:off x="6660931" y="3698875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97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• </a:t>
            </a:r>
            <a:r>
              <a:rPr lang="en-US" sz="135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RTK 天线会不会被上装遮挡？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 21">
            <a:extLst>
              <a:ext uri="{FF2B5EF4-FFF2-40B4-BE49-F238E27FC236}">
                <a16:creationId xmlns:a16="http://schemas.microsoft.com/office/drawing/2014/main" id="{77CA7949-C88E-0FD2-4976-AB1375BF1BD8}"/>
              </a:ext>
            </a:extLst>
          </p:cNvPr>
          <p:cNvSpPr/>
          <p:nvPr/>
        </p:nvSpPr>
        <p:spPr>
          <a:xfrm>
            <a:off x="6660931" y="4110355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97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• </a:t>
            </a:r>
            <a:r>
              <a:rPr lang="en-US" sz="135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是否需要额外传感器位置？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Text 22">
            <a:extLst>
              <a:ext uri="{FF2B5EF4-FFF2-40B4-BE49-F238E27FC236}">
                <a16:creationId xmlns:a16="http://schemas.microsoft.com/office/drawing/2014/main" id="{DA487D75-C549-3561-3063-D76C1A9EB877}"/>
              </a:ext>
            </a:extLst>
          </p:cNvPr>
          <p:cNvSpPr/>
          <p:nvPr/>
        </p:nvSpPr>
        <p:spPr>
          <a:xfrm>
            <a:off x="6660931" y="4521835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97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• </a:t>
            </a:r>
            <a:r>
              <a:rPr lang="en-US" sz="1350" dirty="0">
                <a:solidFill>
                  <a:srgbClr val="17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采集数据时需要什么标定姿态？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Shape 23">
            <a:extLst>
              <a:ext uri="{FF2B5EF4-FFF2-40B4-BE49-F238E27FC236}">
                <a16:creationId xmlns:a16="http://schemas.microsoft.com/office/drawing/2014/main" id="{FEAC4CE6-8EE0-9B29-499C-9BDFB579BBB3}"/>
              </a:ext>
            </a:extLst>
          </p:cNvPr>
          <p:cNvSpPr/>
          <p:nvPr/>
        </p:nvSpPr>
        <p:spPr>
          <a:xfrm>
            <a:off x="1083091" y="6030595"/>
            <a:ext cx="9875520" cy="438912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524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 24">
            <a:extLst>
              <a:ext uri="{FF2B5EF4-FFF2-40B4-BE49-F238E27FC236}">
                <a16:creationId xmlns:a16="http://schemas.microsoft.com/office/drawing/2014/main" id="{7FE97B73-BCD7-1820-9DD1-151186DE933C}"/>
              </a:ext>
            </a:extLst>
          </p:cNvPr>
          <p:cNvSpPr/>
          <p:nvPr/>
        </p:nvSpPr>
        <p:spPr>
          <a:xfrm>
            <a:off x="1247683" y="6158611"/>
            <a:ext cx="9546336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9A4A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课堂练习：让学生用自己项目举例，说出至少 2 个需要向其他组确认的问题。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69271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714A1A1E-A14A-8940-A5C9-C19A54C94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1CC29559-8752-9036-2B56-ADA63CA4854B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8B31477F-6B03-08CB-F1B8-3DDC49B65913}"/>
              </a:ext>
            </a:extLst>
          </p:cNvPr>
          <p:cNvSpPr txBox="1"/>
          <p:nvPr/>
        </p:nvSpPr>
        <p:spPr>
          <a:xfrm>
            <a:off x="1127125" y="2834903"/>
            <a:ext cx="99377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600" b="1" i="0" u="none" strike="noStrike" cap="none" dirty="0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答疑时间</a:t>
            </a:r>
            <a:endParaRPr lang="en-US" altLang="zh-CN" sz="6600" b="1" i="0" u="none" strike="noStrike" cap="none" dirty="0">
              <a:solidFill>
                <a:srgbClr val="F8FAF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3" name="图片 2" descr="GZ+SOCH White">
            <a:extLst>
              <a:ext uri="{FF2B5EF4-FFF2-40B4-BE49-F238E27FC236}">
                <a16:creationId xmlns:a16="http://schemas.microsoft.com/office/drawing/2014/main" id="{6023D7F4-40CF-0F3F-F702-D2971DFF27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624" r="31738"/>
          <a:stretch>
            <a:fillRect/>
          </a:stretch>
        </p:blipFill>
        <p:spPr>
          <a:xfrm>
            <a:off x="182880" y="270510"/>
            <a:ext cx="3330575" cy="53975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42FD4AE-AE48-D459-794E-7B323311CE98}"/>
              </a:ext>
            </a:extLst>
          </p:cNvPr>
          <p:cNvSpPr txBox="1"/>
          <p:nvPr/>
        </p:nvSpPr>
        <p:spPr>
          <a:xfrm>
            <a:off x="8947785" y="270510"/>
            <a:ext cx="31134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 </a:t>
            </a:r>
            <a:r>
              <a:rPr lang="zh-CN" altLang="en-US" sz="2400">
                <a:solidFill>
                  <a:schemeClr val="bg1"/>
                </a:solidFill>
                <a:latin typeface="汉仪颜楷简" panose="00020600040101010101" charset="-122"/>
                <a:ea typeface="汉仪颜楷简" panose="00020600040101010101" charset="-122"/>
                <a:sym typeface="+mn-ea"/>
              </a:rPr>
              <a:t>以技造物，智联校园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C676035-2101-4193-8F46-09AFF3889F82}"/>
              </a:ext>
            </a:extLst>
          </p:cNvPr>
          <p:cNvSpPr txBox="1"/>
          <p:nvPr/>
        </p:nvSpPr>
        <p:spPr>
          <a:xfrm>
            <a:off x="4833620" y="270510"/>
            <a:ext cx="2794000" cy="4889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Cyber 鲁班</a:t>
            </a: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 2</a:t>
            </a: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026         </a:t>
            </a:r>
            <a:endParaRPr lang="zh-CN" altLang="en-US" sz="2400">
              <a:solidFill>
                <a:schemeClr val="bg1"/>
              </a:solidFill>
              <a:latin typeface="汉仪颜楷简" panose="00020600040101010101" charset="-122"/>
              <a:ea typeface="汉仪颜楷简" panose="0002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7443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92D5C8BB-CD8A-1439-BD2A-4DE98CBE3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C9AA89F0-C2D9-A7F8-E801-5E993A4C952E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B4A62EED-FB1F-B6C1-8475-0AC0B913E05F}"/>
              </a:ext>
            </a:extLst>
          </p:cNvPr>
          <p:cNvSpPr txBox="1"/>
          <p:nvPr/>
        </p:nvSpPr>
        <p:spPr>
          <a:xfrm>
            <a:off x="1000125" y="2141220"/>
            <a:ext cx="9937750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6000" b="1" i="0" u="none" strike="noStrike" cap="none" dirty="0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控制组培训</a:t>
            </a:r>
            <a:endParaRPr lang="en-US" altLang="zh-CN" sz="6000" b="1" i="0" u="none" strike="noStrike" cap="none" dirty="0">
              <a:solidFill>
                <a:srgbClr val="F8FAF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4000" b="1" i="0" u="none" strike="noStrike" cap="none" dirty="0">
              <a:solidFill>
                <a:srgbClr val="F8FAF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dirty="0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2026-6-16</a:t>
            </a:r>
            <a:endParaRPr lang="en-US" altLang="zh-CN" sz="4000" b="1" i="0" u="none" strike="noStrike" cap="none" dirty="0">
              <a:solidFill>
                <a:srgbClr val="F8FAF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3" name="图片 2" descr="GZ+SOCH White">
            <a:extLst>
              <a:ext uri="{FF2B5EF4-FFF2-40B4-BE49-F238E27FC236}">
                <a16:creationId xmlns:a16="http://schemas.microsoft.com/office/drawing/2014/main" id="{D297CA3D-96C5-DA8A-FD9B-8B43825D35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624" r="31738"/>
          <a:stretch>
            <a:fillRect/>
          </a:stretch>
        </p:blipFill>
        <p:spPr>
          <a:xfrm>
            <a:off x="182880" y="270510"/>
            <a:ext cx="3330575" cy="53975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48B2470-3663-93F1-2C60-CBAEFF244957}"/>
              </a:ext>
            </a:extLst>
          </p:cNvPr>
          <p:cNvSpPr txBox="1"/>
          <p:nvPr/>
        </p:nvSpPr>
        <p:spPr>
          <a:xfrm>
            <a:off x="8947785" y="270510"/>
            <a:ext cx="31134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 </a:t>
            </a:r>
            <a:r>
              <a:rPr lang="zh-CN" altLang="en-US" sz="2400">
                <a:solidFill>
                  <a:schemeClr val="bg1"/>
                </a:solidFill>
                <a:latin typeface="汉仪颜楷简" panose="00020600040101010101" charset="-122"/>
                <a:ea typeface="汉仪颜楷简" panose="00020600040101010101" charset="-122"/>
                <a:sym typeface="+mn-ea"/>
              </a:rPr>
              <a:t>以技造物，智联校园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BA7C43-EA0F-B184-8958-F3A813CD823B}"/>
              </a:ext>
            </a:extLst>
          </p:cNvPr>
          <p:cNvSpPr txBox="1"/>
          <p:nvPr/>
        </p:nvSpPr>
        <p:spPr>
          <a:xfrm>
            <a:off x="4833620" y="270510"/>
            <a:ext cx="2794000" cy="4889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Cyber 鲁班</a:t>
            </a: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 2</a:t>
            </a: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026         </a:t>
            </a:r>
            <a:endParaRPr lang="zh-CN" altLang="en-US" sz="2400">
              <a:solidFill>
                <a:schemeClr val="bg1"/>
              </a:solidFill>
              <a:latin typeface="汉仪颜楷简" panose="00020600040101010101" charset="-122"/>
              <a:ea typeface="汉仪颜楷简" panose="0002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3547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E61E5F6B-1935-5E2F-B2C6-023E55BF6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A6E64516-6FB0-C80E-9322-C2FBB5E0B0B0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 descr="GZ+SOCH White">
            <a:extLst>
              <a:ext uri="{FF2B5EF4-FFF2-40B4-BE49-F238E27FC236}">
                <a16:creationId xmlns:a16="http://schemas.microsoft.com/office/drawing/2014/main" id="{DEA0ED03-83D4-6071-C55D-05A15038BC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624" r="31738"/>
          <a:stretch>
            <a:fillRect/>
          </a:stretch>
        </p:blipFill>
        <p:spPr>
          <a:xfrm>
            <a:off x="182880" y="270510"/>
            <a:ext cx="3330575" cy="53975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690D6CC-6BC8-1C07-FB27-94913BEFC281}"/>
              </a:ext>
            </a:extLst>
          </p:cNvPr>
          <p:cNvSpPr txBox="1"/>
          <p:nvPr/>
        </p:nvSpPr>
        <p:spPr>
          <a:xfrm>
            <a:off x="8947785" y="270510"/>
            <a:ext cx="31134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Space Grotesk"/>
              </a:rPr>
              <a:t> 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以技造物，智联校园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80A849F-A13C-CEAC-CFE3-4CF7E20D53A7}"/>
              </a:ext>
            </a:extLst>
          </p:cNvPr>
          <p:cNvSpPr txBox="1"/>
          <p:nvPr/>
        </p:nvSpPr>
        <p:spPr>
          <a:xfrm>
            <a:off x="4833620" y="270510"/>
            <a:ext cx="2794000" cy="4889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Space Grotesk"/>
              </a:rPr>
              <a:t>Cyber 鲁班</a:t>
            </a: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2</a:t>
            </a: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Space Grotesk"/>
              </a:rPr>
              <a:t>026         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362B36D6-15DA-B3BD-119D-3746ECEC466E}"/>
              </a:ext>
            </a:extLst>
          </p:cNvPr>
          <p:cNvSpPr/>
          <p:nvPr/>
        </p:nvSpPr>
        <p:spPr>
          <a:xfrm>
            <a:off x="546748" y="956967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控制组在 CampusCar 里的位置</a:t>
            </a:r>
            <a:endParaRPr 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45E8F657-26B5-ECA1-E725-CD46B14FBC19}"/>
              </a:ext>
            </a:extLst>
          </p:cNvPr>
          <p:cNvSpPr/>
          <p:nvPr/>
        </p:nvSpPr>
        <p:spPr>
          <a:xfrm>
            <a:off x="546748" y="1523895"/>
            <a:ext cx="1097280" cy="0"/>
          </a:xfrm>
          <a:prstGeom prst="line">
            <a:avLst/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66137B7F-0010-3FF8-0FE2-51146E11CE89}"/>
              </a:ext>
            </a:extLst>
          </p:cNvPr>
          <p:cNvSpPr/>
          <p:nvPr/>
        </p:nvSpPr>
        <p:spPr>
          <a:xfrm>
            <a:off x="2137804" y="3380127"/>
            <a:ext cx="1645920" cy="0"/>
          </a:xfrm>
          <a:prstGeom prst="line">
            <a:avLst/>
          </a:prstGeom>
          <a:noFill/>
          <a:ln w="12700">
            <a:solidFill>
              <a:srgbClr val="0B3D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B56303C9-C4D9-1249-9FEE-9966057FD888}"/>
              </a:ext>
            </a:extLst>
          </p:cNvPr>
          <p:cNvSpPr/>
          <p:nvPr/>
        </p:nvSpPr>
        <p:spPr>
          <a:xfrm>
            <a:off x="5201044" y="3380127"/>
            <a:ext cx="1371600" cy="0"/>
          </a:xfrm>
          <a:prstGeom prst="line">
            <a:avLst/>
          </a:prstGeom>
          <a:noFill/>
          <a:ln w="12700">
            <a:solidFill>
              <a:srgbClr val="0B3D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7C54D3D2-1D67-A330-5343-A23CC47EB58C}"/>
              </a:ext>
            </a:extLst>
          </p:cNvPr>
          <p:cNvSpPr/>
          <p:nvPr/>
        </p:nvSpPr>
        <p:spPr>
          <a:xfrm>
            <a:off x="7944244" y="3380127"/>
            <a:ext cx="1417320" cy="0"/>
          </a:xfrm>
          <a:prstGeom prst="line">
            <a:avLst/>
          </a:prstGeom>
          <a:noFill/>
          <a:ln w="12700">
            <a:solidFill>
              <a:srgbClr val="0B3D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3B9CBA29-967F-D8BC-0AAC-1EA14F30DA89}"/>
              </a:ext>
            </a:extLst>
          </p:cNvPr>
          <p:cNvSpPr/>
          <p:nvPr/>
        </p:nvSpPr>
        <p:spPr>
          <a:xfrm>
            <a:off x="766204" y="2785767"/>
            <a:ext cx="1554480" cy="1143000"/>
          </a:xfrm>
          <a:prstGeom prst="rect">
            <a:avLst/>
          </a:prstGeom>
          <a:solidFill>
            <a:srgbClr val="F8FBFF"/>
          </a:solidFill>
          <a:ln>
            <a:solidFill>
              <a:srgbClr val="0B3D9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UE5 /</a:t>
            </a:r>
            <a:endParaRPr 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0B3D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网页控制台 /</a:t>
            </a:r>
            <a:endParaRPr 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0B3D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算法节点</a:t>
            </a:r>
            <a:endParaRPr 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42B16D01-26AB-480D-2763-0DEC52A36A6F}"/>
              </a:ext>
            </a:extLst>
          </p:cNvPr>
          <p:cNvSpPr/>
          <p:nvPr/>
        </p:nvSpPr>
        <p:spPr>
          <a:xfrm>
            <a:off x="3783724" y="2785767"/>
            <a:ext cx="1554480" cy="1143000"/>
          </a:xfrm>
          <a:prstGeom prst="rect">
            <a:avLst/>
          </a:prstGeom>
          <a:solidFill>
            <a:srgbClr val="F8FBFF"/>
          </a:solidFill>
          <a:ln>
            <a:solidFill>
              <a:srgbClr val="0B3D9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ROS2</a:t>
            </a:r>
            <a:endParaRPr 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0B3D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底盘驱动节点</a:t>
            </a:r>
            <a:endParaRPr 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50A8A7DA-1B9E-0605-7C85-FDD7BCC7F1AA}"/>
              </a:ext>
            </a:extLst>
          </p:cNvPr>
          <p:cNvSpPr/>
          <p:nvPr/>
        </p:nvSpPr>
        <p:spPr>
          <a:xfrm>
            <a:off x="6572644" y="2785767"/>
            <a:ext cx="1554480" cy="1143000"/>
          </a:xfrm>
          <a:prstGeom prst="rect">
            <a:avLst/>
          </a:prstGeom>
          <a:solidFill>
            <a:srgbClr val="F8FBFF"/>
          </a:solidFill>
          <a:ln>
            <a:solidFill>
              <a:srgbClr val="0096A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6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STM32 /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rgbClr val="0096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ESP32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FDAB2B62-652F-5A18-3146-FAE911BC9079}"/>
              </a:ext>
            </a:extLst>
          </p:cNvPr>
          <p:cNvSpPr/>
          <p:nvPr/>
        </p:nvSpPr>
        <p:spPr>
          <a:xfrm>
            <a:off x="9361564" y="2785767"/>
            <a:ext cx="1920240" cy="1143000"/>
          </a:xfrm>
          <a:prstGeom prst="rect">
            <a:avLst/>
          </a:prstGeom>
          <a:solidFill>
            <a:srgbClr val="F8FFF8"/>
          </a:solidFill>
          <a:ln>
            <a:solidFill>
              <a:srgbClr val="0B9A6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9A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电机 / 舵机 /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0B9A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水泵 / 电子锁 /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0B9A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灯带 / 夹爪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E9FD43B-A1EE-8E8F-9698-D9EE8F72549D}"/>
              </a:ext>
            </a:extLst>
          </p:cNvPr>
          <p:cNvSpPr/>
          <p:nvPr/>
        </p:nvSpPr>
        <p:spPr>
          <a:xfrm>
            <a:off x="2549284" y="2968647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/cmd_vel</a:t>
            </a:r>
            <a:endParaRPr 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4D518E20-D453-B1E6-D5AE-66F87E74B647}"/>
              </a:ext>
            </a:extLst>
          </p:cNvPr>
          <p:cNvSpPr/>
          <p:nvPr/>
        </p:nvSpPr>
        <p:spPr>
          <a:xfrm>
            <a:off x="5494545" y="2945787"/>
            <a:ext cx="1202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UART / CAN / GPIO / PWM</a:t>
            </a:r>
            <a:endParaRPr lang="en-US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156A6B2A-788E-5F38-B7E3-7500A12EDB73}"/>
              </a:ext>
            </a:extLst>
          </p:cNvPr>
          <p:cNvSpPr/>
          <p:nvPr/>
        </p:nvSpPr>
        <p:spPr>
          <a:xfrm>
            <a:off x="766204" y="4401732"/>
            <a:ext cx="3136392" cy="1355835"/>
          </a:xfrm>
          <a:prstGeom prst="rect">
            <a:avLst/>
          </a:prstGeom>
          <a:solidFill>
            <a:srgbClr val="EAF4FF"/>
          </a:solidFill>
          <a:ln>
            <a:solidFill>
              <a:srgbClr val="A9CC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0B3D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控制组不是只让电机转</a:t>
            </a:r>
            <a:r>
              <a:rPr lang="en-US" sz="1600" b="1" dirty="0">
                <a:solidFill>
                  <a:srgbClr val="0B3D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
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sz="1600" dirty="0" err="1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还要让所有动作可控、可停、可调试、可恢复</a:t>
            </a:r>
            <a:r>
              <a:rPr lang="en-US" sz="16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。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28649331-7317-828D-4973-3CB8BF0062C3}"/>
              </a:ext>
            </a:extLst>
          </p:cNvPr>
          <p:cNvSpPr/>
          <p:nvPr/>
        </p:nvSpPr>
        <p:spPr>
          <a:xfrm>
            <a:off x="4378084" y="4401732"/>
            <a:ext cx="3063240" cy="1355835"/>
          </a:xfrm>
          <a:prstGeom prst="rect">
            <a:avLst/>
          </a:prstGeom>
          <a:solidFill>
            <a:srgbClr val="F8FCFF"/>
          </a:solidFill>
          <a:ln>
            <a:solidFill>
              <a:srgbClr val="C7DAF5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0B3D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上层只发意图</a:t>
            </a:r>
            <a:r>
              <a:rPr lang="en-US" sz="1600" b="1" dirty="0">
                <a:solidFill>
                  <a:srgbClr val="0B3D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
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真正控制硬件动作的接口与保护逻辑，需要控制组实现。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6249E6F1-CCB0-20D9-6D7F-E97B5A55AF08}"/>
              </a:ext>
            </a:extLst>
          </p:cNvPr>
          <p:cNvSpPr/>
          <p:nvPr/>
        </p:nvSpPr>
        <p:spPr>
          <a:xfrm>
            <a:off x="7916812" y="4401732"/>
            <a:ext cx="3063240" cy="1355835"/>
          </a:xfrm>
          <a:prstGeom prst="rect">
            <a:avLst/>
          </a:prstGeom>
          <a:solidFill>
            <a:srgbClr val="FFF7E6"/>
          </a:solidFill>
          <a:ln>
            <a:solidFill>
              <a:srgbClr val="FBBF24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安全机制优先</a:t>
            </a:r>
            <a:r>
              <a:rPr lang="en-US" sz="16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
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第一次调车先验证停车、限速、超时，再做复杂动作。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8806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FB097C7E-A61F-1299-2619-E1A5861D7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BB26AAF2-10A3-8E87-0964-096EB97D5CA4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 descr="GZ+SOCH White">
            <a:extLst>
              <a:ext uri="{FF2B5EF4-FFF2-40B4-BE49-F238E27FC236}">
                <a16:creationId xmlns:a16="http://schemas.microsoft.com/office/drawing/2014/main" id="{B765396B-8CC6-57AF-D074-82DF2969C5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624" r="31738"/>
          <a:stretch>
            <a:fillRect/>
          </a:stretch>
        </p:blipFill>
        <p:spPr>
          <a:xfrm>
            <a:off x="182880" y="270510"/>
            <a:ext cx="3330575" cy="53975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22FCB55-1263-6618-93D0-DB49ED318F82}"/>
              </a:ext>
            </a:extLst>
          </p:cNvPr>
          <p:cNvSpPr txBox="1"/>
          <p:nvPr/>
        </p:nvSpPr>
        <p:spPr>
          <a:xfrm>
            <a:off x="8947785" y="270510"/>
            <a:ext cx="31134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Space Grotesk"/>
              </a:rPr>
              <a:t> 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以技造物，智联校园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EEB8690-7DBD-F9D0-667D-30C8B193777B}"/>
              </a:ext>
            </a:extLst>
          </p:cNvPr>
          <p:cNvSpPr txBox="1"/>
          <p:nvPr/>
        </p:nvSpPr>
        <p:spPr>
          <a:xfrm>
            <a:off x="4833620" y="270510"/>
            <a:ext cx="2794000" cy="4889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Space Grotesk"/>
              </a:rPr>
              <a:t>Cyber 鲁班</a:t>
            </a: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2</a:t>
            </a: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Space Grotesk"/>
              </a:rPr>
              <a:t>026         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5CA8F5FA-FD14-8E41-EA10-5A18CBAC3312}"/>
              </a:ext>
            </a:extLst>
          </p:cNvPr>
          <p:cNvSpPr/>
          <p:nvPr/>
        </p:nvSpPr>
        <p:spPr>
          <a:xfrm>
            <a:off x="458461" y="1278583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本阶段核心任务：先能停，再能动</a:t>
            </a:r>
            <a:endParaRPr 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17FA571-4E93-3B0E-B100-A4E747B51F04}"/>
              </a:ext>
            </a:extLst>
          </p:cNvPr>
          <p:cNvSpPr/>
          <p:nvPr/>
        </p:nvSpPr>
        <p:spPr>
          <a:xfrm>
            <a:off x="458461" y="1845511"/>
            <a:ext cx="1097280" cy="0"/>
          </a:xfrm>
          <a:prstGeom prst="line">
            <a:avLst/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AB546B14-B160-1D24-D452-24EFB1D6F259}"/>
              </a:ext>
            </a:extLst>
          </p:cNvPr>
          <p:cNvSpPr/>
          <p:nvPr/>
        </p:nvSpPr>
        <p:spPr>
          <a:xfrm>
            <a:off x="1683757" y="2906215"/>
            <a:ext cx="393192" cy="0"/>
          </a:xfrm>
          <a:prstGeom prst="line">
            <a:avLst/>
          </a:prstGeom>
          <a:noFill/>
          <a:ln w="12700">
            <a:solidFill>
              <a:srgbClr val="0096A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243E78F3-D5D4-3AC8-5DD0-CE477999A174}"/>
              </a:ext>
            </a:extLst>
          </p:cNvPr>
          <p:cNvSpPr/>
          <p:nvPr/>
        </p:nvSpPr>
        <p:spPr>
          <a:xfrm>
            <a:off x="540757" y="2467303"/>
            <a:ext cx="1225296" cy="877824"/>
          </a:xfrm>
          <a:prstGeom prst="rect">
            <a:avLst/>
          </a:prstGeom>
          <a:solidFill>
            <a:srgbClr val="FFF7E6"/>
          </a:solidFill>
          <a:ln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1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确认串口/控制板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FACF3FFB-A7A3-9613-907A-071E3A5677D2}"/>
              </a:ext>
            </a:extLst>
          </p:cNvPr>
          <p:cNvSpPr/>
          <p:nvPr/>
        </p:nvSpPr>
        <p:spPr>
          <a:xfrm>
            <a:off x="3311389" y="2906215"/>
            <a:ext cx="393192" cy="0"/>
          </a:xfrm>
          <a:prstGeom prst="line">
            <a:avLst/>
          </a:prstGeom>
          <a:noFill/>
          <a:ln w="12700">
            <a:solidFill>
              <a:srgbClr val="0096A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90797DB2-1089-30C7-854F-7FEBE973434C}"/>
              </a:ext>
            </a:extLst>
          </p:cNvPr>
          <p:cNvSpPr/>
          <p:nvPr/>
        </p:nvSpPr>
        <p:spPr>
          <a:xfrm>
            <a:off x="2168389" y="2467303"/>
            <a:ext cx="1225296" cy="877824"/>
          </a:xfrm>
          <a:prstGeom prst="rect">
            <a:avLst/>
          </a:prstGeom>
          <a:solidFill>
            <a:srgbClr val="FFF7E6"/>
          </a:solidFill>
          <a:ln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2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发送停车帧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9570564A-5CEA-A0FB-9DD6-34C22ED2CFF0}"/>
              </a:ext>
            </a:extLst>
          </p:cNvPr>
          <p:cNvSpPr/>
          <p:nvPr/>
        </p:nvSpPr>
        <p:spPr>
          <a:xfrm>
            <a:off x="4939021" y="2906215"/>
            <a:ext cx="393192" cy="0"/>
          </a:xfrm>
          <a:prstGeom prst="line">
            <a:avLst/>
          </a:prstGeom>
          <a:noFill/>
          <a:ln w="12700">
            <a:solidFill>
              <a:srgbClr val="0096A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84AE19EF-B7DD-D8DA-7C3A-BC10C0B5EC34}"/>
              </a:ext>
            </a:extLst>
          </p:cNvPr>
          <p:cNvSpPr/>
          <p:nvPr/>
        </p:nvSpPr>
        <p:spPr>
          <a:xfrm>
            <a:off x="3796021" y="2467303"/>
            <a:ext cx="1225296" cy="877824"/>
          </a:xfrm>
          <a:prstGeom prst="rect">
            <a:avLst/>
          </a:prstGeom>
          <a:solidFill>
            <a:srgbClr val="FFFFFF"/>
          </a:solidFill>
          <a:ln>
            <a:solidFill>
              <a:srgbClr val="0B3D9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3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0B3D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小速度前进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3ED9B63A-DDAE-4F78-07CF-0D2CA3E24E8F}"/>
              </a:ext>
            </a:extLst>
          </p:cNvPr>
          <p:cNvSpPr/>
          <p:nvPr/>
        </p:nvSpPr>
        <p:spPr>
          <a:xfrm>
            <a:off x="6566653" y="2906215"/>
            <a:ext cx="393192" cy="0"/>
          </a:xfrm>
          <a:prstGeom prst="line">
            <a:avLst/>
          </a:prstGeom>
          <a:noFill/>
          <a:ln w="12700">
            <a:solidFill>
              <a:srgbClr val="0096A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1A82793B-B667-8389-4065-18193EA0EC5B}"/>
              </a:ext>
            </a:extLst>
          </p:cNvPr>
          <p:cNvSpPr/>
          <p:nvPr/>
        </p:nvSpPr>
        <p:spPr>
          <a:xfrm>
            <a:off x="5423653" y="2467303"/>
            <a:ext cx="1225296" cy="877824"/>
          </a:xfrm>
          <a:prstGeom prst="rect">
            <a:avLst/>
          </a:prstGeom>
          <a:solidFill>
            <a:srgbClr val="FFFFFF"/>
          </a:solidFill>
          <a:ln>
            <a:solidFill>
              <a:srgbClr val="0B3D9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4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0B3D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小速度转向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EE1F0496-5847-1EE1-4D22-7777A0799799}"/>
              </a:ext>
            </a:extLst>
          </p:cNvPr>
          <p:cNvSpPr/>
          <p:nvPr/>
        </p:nvSpPr>
        <p:spPr>
          <a:xfrm>
            <a:off x="8194285" y="2906215"/>
            <a:ext cx="393192" cy="0"/>
          </a:xfrm>
          <a:prstGeom prst="line">
            <a:avLst/>
          </a:prstGeom>
          <a:noFill/>
          <a:ln w="12700">
            <a:solidFill>
              <a:srgbClr val="0096A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60730806-F42E-8A86-67AD-DD8FDEE1FDD5}"/>
              </a:ext>
            </a:extLst>
          </p:cNvPr>
          <p:cNvSpPr/>
          <p:nvPr/>
        </p:nvSpPr>
        <p:spPr>
          <a:xfrm>
            <a:off x="7051285" y="2467303"/>
            <a:ext cx="1225296" cy="877824"/>
          </a:xfrm>
          <a:prstGeom prst="rect">
            <a:avLst/>
          </a:prstGeom>
          <a:solidFill>
            <a:srgbClr val="FFFFFF"/>
          </a:solidFill>
          <a:ln>
            <a:solidFill>
              <a:srgbClr val="0B3D9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5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0B3D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解析反馈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20C77A03-4B91-F986-BDB8-5884A66D3BFD}"/>
              </a:ext>
            </a:extLst>
          </p:cNvPr>
          <p:cNvSpPr/>
          <p:nvPr/>
        </p:nvSpPr>
        <p:spPr>
          <a:xfrm>
            <a:off x="9821917" y="2906215"/>
            <a:ext cx="393192" cy="0"/>
          </a:xfrm>
          <a:prstGeom prst="line">
            <a:avLst/>
          </a:prstGeom>
          <a:noFill/>
          <a:ln w="12700">
            <a:solidFill>
              <a:srgbClr val="0096A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3877DA8D-8BF1-4CFA-B7A3-A1443F5A3BC3}"/>
              </a:ext>
            </a:extLst>
          </p:cNvPr>
          <p:cNvSpPr/>
          <p:nvPr/>
        </p:nvSpPr>
        <p:spPr>
          <a:xfrm>
            <a:off x="8678917" y="2467303"/>
            <a:ext cx="1225296" cy="877824"/>
          </a:xfrm>
          <a:prstGeom prst="rect">
            <a:avLst/>
          </a:prstGeom>
          <a:solidFill>
            <a:srgbClr val="FFFFFF"/>
          </a:solidFill>
          <a:ln>
            <a:solidFill>
              <a:srgbClr val="0B3D9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6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0B3D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接入 /cmd_vel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B312C53D-66C7-4AA2-EDF5-ED185850339B}"/>
              </a:ext>
            </a:extLst>
          </p:cNvPr>
          <p:cNvSpPr/>
          <p:nvPr/>
        </p:nvSpPr>
        <p:spPr>
          <a:xfrm>
            <a:off x="10306549" y="2467303"/>
            <a:ext cx="1225296" cy="877824"/>
          </a:xfrm>
          <a:prstGeom prst="rect">
            <a:avLst/>
          </a:prstGeom>
          <a:solidFill>
            <a:srgbClr val="FFFFFF"/>
          </a:solidFill>
          <a:ln>
            <a:solidFill>
              <a:srgbClr val="0B3D9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7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0B3D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加超时与急停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7B245B48-8307-267E-AC08-CC7D9192EBBC}"/>
              </a:ext>
            </a:extLst>
          </p:cNvPr>
          <p:cNvSpPr/>
          <p:nvPr/>
        </p:nvSpPr>
        <p:spPr>
          <a:xfrm>
            <a:off x="540757" y="3930343"/>
            <a:ext cx="3546085" cy="1325880"/>
          </a:xfrm>
          <a:prstGeom prst="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安全优先级
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急停 &gt; 停车帧 &gt; 限速 &gt; 小速度测试 &gt; 闭环控制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Text 20">
            <a:extLst>
              <a:ext uri="{FF2B5EF4-FFF2-40B4-BE49-F238E27FC236}">
                <a16:creationId xmlns:a16="http://schemas.microsoft.com/office/drawing/2014/main" id="{C2D83891-27B6-7BF3-083A-4E4E8DB529A5}"/>
              </a:ext>
            </a:extLst>
          </p:cNvPr>
          <p:cNvSpPr/>
          <p:nvPr/>
        </p:nvSpPr>
        <p:spPr>
          <a:xfrm>
            <a:off x="4496327" y="3930343"/>
            <a:ext cx="305851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3E5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3D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第一次调车要求
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低速、架空或空旷场地、旁边有人看急停、日志持续记录。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3C9125B9-AE7F-8288-7373-E8DCB2B6B4C7}"/>
              </a:ext>
            </a:extLst>
          </p:cNvPr>
          <p:cNvSpPr/>
          <p:nvPr/>
        </p:nvSpPr>
        <p:spPr>
          <a:xfrm>
            <a:off x="7964322" y="3930343"/>
            <a:ext cx="3567523" cy="1325880"/>
          </a:xfrm>
          <a:prstGeom prst="rect">
            <a:avLst/>
          </a:prstGeom>
          <a:solidFill>
            <a:srgbClr val="FFF7E6"/>
          </a:solidFill>
          <a:ln>
            <a:solidFill>
              <a:srgbClr val="FBBF24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绝对不要
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没有停车验证就测试前进；没有限速就联调算法；在人群旁边测试。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9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93B552E6-25ED-83CC-B7E5-8215D50EA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73959146-B5B3-4B9D-F97C-A387DBA1AD1C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 descr="GZ+SOCH White">
            <a:extLst>
              <a:ext uri="{FF2B5EF4-FFF2-40B4-BE49-F238E27FC236}">
                <a16:creationId xmlns:a16="http://schemas.microsoft.com/office/drawing/2014/main" id="{2014528A-5ECC-2154-0878-AEFE8DD5EB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624" r="31738"/>
          <a:stretch>
            <a:fillRect/>
          </a:stretch>
        </p:blipFill>
        <p:spPr>
          <a:xfrm>
            <a:off x="182880" y="270510"/>
            <a:ext cx="3330575" cy="53975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0E3E785-38D2-6306-E1B1-40B60C72D6A7}"/>
              </a:ext>
            </a:extLst>
          </p:cNvPr>
          <p:cNvSpPr txBox="1"/>
          <p:nvPr/>
        </p:nvSpPr>
        <p:spPr>
          <a:xfrm>
            <a:off x="8947785" y="270510"/>
            <a:ext cx="31134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Space Grotesk"/>
              </a:rPr>
              <a:t> 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以技造物，智联校园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FD9669-FCCC-AC35-739C-D463935A2637}"/>
              </a:ext>
            </a:extLst>
          </p:cNvPr>
          <p:cNvSpPr txBox="1"/>
          <p:nvPr/>
        </p:nvSpPr>
        <p:spPr>
          <a:xfrm>
            <a:off x="4833620" y="270510"/>
            <a:ext cx="2794000" cy="4889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Space Grotesk"/>
              </a:rPr>
              <a:t>Cyber 鲁班</a:t>
            </a: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2</a:t>
            </a: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Space Grotesk"/>
              </a:rPr>
              <a:t>026         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A2240B18-9AE6-48ED-9473-08DA2E0C8E89}"/>
              </a:ext>
            </a:extLst>
          </p:cNvPr>
          <p:cNvSpPr/>
          <p:nvPr/>
        </p:nvSpPr>
        <p:spPr>
          <a:xfrm>
            <a:off x="540442" y="108077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/cmd_vel 怎么变成左右轮输入</a:t>
            </a:r>
            <a:endParaRPr 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A875ADFD-D976-1C4B-1B97-D97544FF390F}"/>
              </a:ext>
            </a:extLst>
          </p:cNvPr>
          <p:cNvSpPr/>
          <p:nvPr/>
        </p:nvSpPr>
        <p:spPr>
          <a:xfrm>
            <a:off x="540442" y="1647698"/>
            <a:ext cx="1097280" cy="0"/>
          </a:xfrm>
          <a:prstGeom prst="line">
            <a:avLst/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8C15F96-BD0E-53DA-8F14-BA9EBA499E5E}"/>
              </a:ext>
            </a:extLst>
          </p:cNvPr>
          <p:cNvSpPr/>
          <p:nvPr/>
        </p:nvSpPr>
        <p:spPr>
          <a:xfrm>
            <a:off x="896585" y="2606040"/>
            <a:ext cx="3035809" cy="1645920"/>
          </a:xfrm>
          <a:prstGeom prst="rect">
            <a:avLst/>
          </a:prstGeom>
          <a:solidFill>
            <a:srgbClr val="EAF4FF"/>
          </a:solidFill>
          <a:ln>
            <a:solidFill>
              <a:srgbClr val="A9CC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B3D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/cmd_vel 主要字段
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linear.x：前进/后退速度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angular.z：左转/右转角速度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36E43AE7-28E7-5E49-4D23-56EAD3C5BAC1}"/>
              </a:ext>
            </a:extLst>
          </p:cNvPr>
          <p:cNvSpPr/>
          <p:nvPr/>
        </p:nvSpPr>
        <p:spPr>
          <a:xfrm>
            <a:off x="4691818" y="176657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差速底盘示意</a:t>
            </a:r>
            <a:endParaRPr 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EA780A94-8890-E27E-7ABF-D37AC9DDE137}"/>
              </a:ext>
            </a:extLst>
          </p:cNvPr>
          <p:cNvSpPr/>
          <p:nvPr/>
        </p:nvSpPr>
        <p:spPr>
          <a:xfrm>
            <a:off x="5194738" y="2406650"/>
            <a:ext cx="1920240" cy="1965960"/>
          </a:xfrm>
          <a:prstGeom prst="rect">
            <a:avLst/>
          </a:prstGeom>
          <a:solidFill>
            <a:srgbClr val="F3F6FA"/>
          </a:solidFill>
          <a:ln w="12700">
            <a:solidFill>
              <a:srgbClr val="B7C7E5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99E5ED0D-075E-EF6C-8C71-DA3337B5BFAE}"/>
              </a:ext>
            </a:extLst>
          </p:cNvPr>
          <p:cNvSpPr/>
          <p:nvPr/>
        </p:nvSpPr>
        <p:spPr>
          <a:xfrm>
            <a:off x="4828978" y="2635250"/>
            <a:ext cx="320040" cy="150876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524B8A47-E9B3-31C0-5BE9-40645D1AE22C}"/>
              </a:ext>
            </a:extLst>
          </p:cNvPr>
          <p:cNvSpPr/>
          <p:nvPr/>
        </p:nvSpPr>
        <p:spPr>
          <a:xfrm>
            <a:off x="7160698" y="2635250"/>
            <a:ext cx="320040" cy="150876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24FFF2D0-B12F-D649-15C8-677465905BF2}"/>
              </a:ext>
            </a:extLst>
          </p:cNvPr>
          <p:cNvSpPr/>
          <p:nvPr/>
        </p:nvSpPr>
        <p:spPr>
          <a:xfrm>
            <a:off x="6154858" y="2086610"/>
            <a:ext cx="0" cy="594360"/>
          </a:xfrm>
          <a:prstGeom prst="line">
            <a:avLst/>
          </a:prstGeom>
          <a:noFill/>
          <a:ln w="12700">
            <a:solidFill>
              <a:srgbClr val="0B9A68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88408473-2D95-FD3C-9F9D-AEC43425E9FC}"/>
              </a:ext>
            </a:extLst>
          </p:cNvPr>
          <p:cNvSpPr/>
          <p:nvPr/>
        </p:nvSpPr>
        <p:spPr>
          <a:xfrm>
            <a:off x="6264586" y="220548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9A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v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A3FC1209-F621-6ED7-D32D-A032556438BA}"/>
              </a:ext>
            </a:extLst>
          </p:cNvPr>
          <p:cNvSpPr/>
          <p:nvPr/>
        </p:nvSpPr>
        <p:spPr>
          <a:xfrm>
            <a:off x="5651938" y="3183890"/>
            <a:ext cx="1051560" cy="77724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06B0231F-9FCE-9430-24AD-CBC4CD4B142C}"/>
              </a:ext>
            </a:extLst>
          </p:cNvPr>
          <p:cNvSpPr/>
          <p:nvPr/>
        </p:nvSpPr>
        <p:spPr>
          <a:xfrm>
            <a:off x="6109138" y="345821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ω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0CA044FA-A4F6-57CC-8F2F-E39B9BD6C03D}"/>
              </a:ext>
            </a:extLst>
          </p:cNvPr>
          <p:cNvSpPr/>
          <p:nvPr/>
        </p:nvSpPr>
        <p:spPr>
          <a:xfrm>
            <a:off x="8145780" y="2635250"/>
            <a:ext cx="301752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D3E5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B3D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常见换算思路
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left = v − k·ω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right = v + k·ω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再映射到 -1000 ~ 1000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44C9EF76-CE76-B23C-6CA1-583F5D307DEF}"/>
              </a:ext>
            </a:extLst>
          </p:cNvPr>
          <p:cNvSpPr/>
          <p:nvPr/>
        </p:nvSpPr>
        <p:spPr>
          <a:xfrm>
            <a:off x="833050" y="5149850"/>
            <a:ext cx="10378440" cy="822960"/>
          </a:xfrm>
          <a:prstGeom prst="rect">
            <a:avLst/>
          </a:prstGeom>
          <a:solidFill>
            <a:srgbClr val="F8FCFF"/>
          </a:solidFill>
          <a:ln>
            <a:solidFill>
              <a:srgbClr val="C7DAF5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直走：左右轮输入接近相同；左转</a:t>
            </a:r>
            <a:r>
              <a:rPr lang="en-US" sz="20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/右转：左右轮输入产生差值；原地转：左右轮方向相反。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1834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7CB61B67-079D-6CF3-A3F0-4C9FC188F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2F5C841A-499C-AEA1-77F8-E28B3E16C1E9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 descr="GZ+SOCH White">
            <a:extLst>
              <a:ext uri="{FF2B5EF4-FFF2-40B4-BE49-F238E27FC236}">
                <a16:creationId xmlns:a16="http://schemas.microsoft.com/office/drawing/2014/main" id="{A247BA92-BCBC-DEF9-7F02-3EC3986563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624" r="31738"/>
          <a:stretch>
            <a:fillRect/>
          </a:stretch>
        </p:blipFill>
        <p:spPr>
          <a:xfrm>
            <a:off x="182880" y="270510"/>
            <a:ext cx="3330575" cy="53975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BEDCA2C-B2B0-1335-CD3A-E37EE108346F}"/>
              </a:ext>
            </a:extLst>
          </p:cNvPr>
          <p:cNvSpPr txBox="1"/>
          <p:nvPr/>
        </p:nvSpPr>
        <p:spPr>
          <a:xfrm>
            <a:off x="8947785" y="270510"/>
            <a:ext cx="31134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Space Grotesk"/>
              </a:rPr>
              <a:t> 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以技造物，智联校园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4AA831-A6BD-E266-8CDE-22489588B6AB}"/>
              </a:ext>
            </a:extLst>
          </p:cNvPr>
          <p:cNvSpPr txBox="1"/>
          <p:nvPr/>
        </p:nvSpPr>
        <p:spPr>
          <a:xfrm>
            <a:off x="4833620" y="270510"/>
            <a:ext cx="2794000" cy="4889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Space Grotesk"/>
              </a:rPr>
              <a:t>Cyber 鲁班</a:t>
            </a: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2</a:t>
            </a: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Space Grotesk"/>
              </a:rPr>
              <a:t>026         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D9A3807-4013-DF6E-08D5-58DD929D9658}"/>
              </a:ext>
            </a:extLst>
          </p:cNvPr>
          <p:cNvSpPr txBox="1"/>
          <p:nvPr/>
        </p:nvSpPr>
        <p:spPr>
          <a:xfrm>
            <a:off x="435356" y="1124081"/>
            <a:ext cx="588654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控制帧示例：主控如何发</a:t>
            </a:r>
            <a:r>
              <a:rPr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8 </a:t>
            </a:r>
            <a:r>
              <a:rPr sz="2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字节命令帧</a:t>
            </a:r>
            <a:endParaRPr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051BD1FD-7EE9-1CB2-A34D-9216DF97AD0E}"/>
              </a:ext>
            </a:extLst>
          </p:cNvPr>
          <p:cNvSpPr/>
          <p:nvPr/>
        </p:nvSpPr>
        <p:spPr>
          <a:xfrm>
            <a:off x="508508" y="1809881"/>
            <a:ext cx="914400" cy="36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4EC20E53-0D52-626E-2D40-4725FEB75DBD}"/>
              </a:ext>
            </a:extLst>
          </p:cNvPr>
          <p:cNvSpPr/>
          <p:nvPr/>
        </p:nvSpPr>
        <p:spPr>
          <a:xfrm>
            <a:off x="535940" y="2038481"/>
            <a:ext cx="2103120" cy="146304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/>
          </a:bodyPr>
          <a:lstStyle/>
          <a:p>
            <a:pPr algn="l"/>
            <a:r>
              <a:rPr sz="1700" b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示例目标：</a:t>
            </a:r>
          </a:p>
          <a:p>
            <a:pPr algn="l"/>
            <a:r>
              <a:rPr sz="1700" b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起始帧 = 0xABCD</a:t>
            </a:r>
          </a:p>
          <a:p>
            <a:pPr algn="l"/>
            <a:r>
              <a:rPr sz="1700" b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转向/左输入 = 100</a:t>
            </a:r>
          </a:p>
          <a:p>
            <a:pPr algn="l"/>
            <a:r>
              <a:rPr sz="1700" b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速度/右输入 = 300</a:t>
            </a:r>
          </a:p>
          <a:p>
            <a:pPr algn="l"/>
            <a:r>
              <a:rPr sz="1700" b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校验 = XOR</a:t>
            </a:r>
          </a:p>
        </p:txBody>
      </p:sp>
      <p:graphicFrame>
        <p:nvGraphicFramePr>
          <p:cNvPr id="14" name="Table 9">
            <a:extLst>
              <a:ext uri="{FF2B5EF4-FFF2-40B4-BE49-F238E27FC236}">
                <a16:creationId xmlns:a16="http://schemas.microsoft.com/office/drawing/2014/main" id="{74319D2D-E818-DA35-DA02-563EAF16BC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191148"/>
              </p:ext>
            </p:extLst>
          </p:nvPr>
        </p:nvGraphicFramePr>
        <p:xfrm>
          <a:off x="2776220" y="2038481"/>
          <a:ext cx="384048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3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字段</a:t>
                      </a:r>
                    </a:p>
                  </a:txBody>
                  <a:tcPr>
                    <a:solidFill>
                      <a:srgbClr val="124C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十进制</a:t>
                      </a:r>
                    </a:p>
                  </a:txBody>
                  <a:tcPr>
                    <a:solidFill>
                      <a:srgbClr val="124C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十六进制</a:t>
                      </a:r>
                    </a:p>
                  </a:txBody>
                  <a:tcPr>
                    <a:solidFill>
                      <a:srgbClr val="124C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82828"/>
                          </a:solidFill>
                        </a:rPr>
                        <a:t>起始帧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8282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82828"/>
                          </a:solidFill>
                        </a:rPr>
                        <a:t>0xABCD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82828"/>
                          </a:solidFill>
                        </a:rPr>
                        <a:t>转向/左输入</a:t>
                      </a:r>
                    </a:p>
                  </a:txBody>
                  <a:tcPr>
                    <a:solidFill>
                      <a:srgbClr val="EB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82828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EB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82828"/>
                          </a:solidFill>
                        </a:rPr>
                        <a:t>0x0064</a:t>
                      </a:r>
                    </a:p>
                  </a:txBody>
                  <a:tcPr>
                    <a:solidFill>
                      <a:srgbClr val="EB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82828"/>
                          </a:solidFill>
                        </a:rPr>
                        <a:t>速度/右输入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82828"/>
                          </a:solidFill>
                        </a:rPr>
                        <a:t>300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82828"/>
                          </a:solidFill>
                        </a:rPr>
                        <a:t>0x012C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7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82828"/>
                          </a:solidFill>
                        </a:rPr>
                        <a:t>校验和</a:t>
                      </a:r>
                    </a:p>
                  </a:txBody>
                  <a:tcPr>
                    <a:solidFill>
                      <a:srgbClr val="EB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8282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B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82828"/>
                          </a:solidFill>
                        </a:rPr>
                        <a:t>0xAA85</a:t>
                      </a:r>
                    </a:p>
                  </a:txBody>
                  <a:tcPr>
                    <a:solidFill>
                      <a:srgbClr val="EB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Rounded Rectangle 10">
            <a:extLst>
              <a:ext uri="{FF2B5EF4-FFF2-40B4-BE49-F238E27FC236}">
                <a16:creationId xmlns:a16="http://schemas.microsoft.com/office/drawing/2014/main" id="{9F36B552-5CE7-F451-E1BE-351F8EF960BB}"/>
              </a:ext>
            </a:extLst>
          </p:cNvPr>
          <p:cNvSpPr/>
          <p:nvPr/>
        </p:nvSpPr>
        <p:spPr>
          <a:xfrm>
            <a:off x="6845300" y="2038481"/>
            <a:ext cx="4800600" cy="868680"/>
          </a:xfrm>
          <a:prstGeom prst="roundRect">
            <a:avLst/>
          </a:prstGeom>
          <a:solidFill>
            <a:srgbClr val="FFF8EB"/>
          </a:solidFill>
          <a:ln w="19050">
            <a:solidFill>
              <a:srgbClr val="E89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l"/>
            <a:r>
              <a:rPr sz="1700" b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校验和计算示例</a:t>
            </a:r>
          </a:p>
          <a:p>
            <a:pPr algn="l"/>
            <a:r>
              <a:rPr sz="1700" b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0xABCD ^ 0x0064 ^ 0x012C = 0xAA85</a:t>
            </a:r>
          </a:p>
        </p:txBody>
      </p:sp>
      <p:sp>
        <p:nvSpPr>
          <p:cNvPr id="18" name="Rounded Rectangle 11">
            <a:extLst>
              <a:ext uri="{FF2B5EF4-FFF2-40B4-BE49-F238E27FC236}">
                <a16:creationId xmlns:a16="http://schemas.microsoft.com/office/drawing/2014/main" id="{1FD29495-506F-8F7A-3425-86305B2D5474}"/>
              </a:ext>
            </a:extLst>
          </p:cNvPr>
          <p:cNvSpPr/>
          <p:nvPr/>
        </p:nvSpPr>
        <p:spPr>
          <a:xfrm>
            <a:off x="6845300" y="3373505"/>
            <a:ext cx="4800600" cy="914400"/>
          </a:xfrm>
          <a:prstGeom prst="roundRect">
            <a:avLst/>
          </a:prstGeom>
          <a:solidFill>
            <a:srgbClr val="EDFAF8"/>
          </a:solidFill>
          <a:ln w="19050">
            <a:solidFill>
              <a:srgbClr val="14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l"/>
            <a:r>
              <a:rPr sz="1600" b="0" dirty="0" err="1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注意：协议采用小端序（Little</a:t>
            </a:r>
            <a:r>
              <a:rPr sz="1600" b="0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Endian）</a:t>
            </a:r>
          </a:p>
          <a:p>
            <a:pPr algn="l"/>
            <a:r>
              <a:rPr sz="1600" b="0" dirty="0" err="1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所以</a:t>
            </a:r>
            <a:r>
              <a:rPr sz="1600" b="0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0xABCD </a:t>
            </a:r>
            <a:r>
              <a:rPr sz="1600" b="0" dirty="0" err="1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实际发送顺序是</a:t>
            </a:r>
            <a:r>
              <a:rPr sz="1600" b="0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CD </a:t>
            </a:r>
            <a:r>
              <a:rPr sz="1600" b="0" dirty="0" err="1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AB，而不是</a:t>
            </a:r>
            <a:r>
              <a:rPr sz="1600" b="0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AB CD。</a:t>
            </a: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E7FF5684-74AC-8B73-EE5F-CEF9AEF3FC0D}"/>
              </a:ext>
            </a:extLst>
          </p:cNvPr>
          <p:cNvSpPr txBox="1"/>
          <p:nvPr/>
        </p:nvSpPr>
        <p:spPr>
          <a:xfrm>
            <a:off x="535940" y="3638681"/>
            <a:ext cx="2103120" cy="384048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algn="l"/>
            <a:r>
              <a:rPr sz="18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实际发送的</a:t>
            </a:r>
            <a:r>
              <a:rPr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8 </a:t>
            </a:r>
            <a:r>
              <a:rPr sz="18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个字节</a:t>
            </a:r>
            <a:endParaRPr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ounded Rectangle 13">
            <a:extLst>
              <a:ext uri="{FF2B5EF4-FFF2-40B4-BE49-F238E27FC236}">
                <a16:creationId xmlns:a16="http://schemas.microsoft.com/office/drawing/2014/main" id="{AD2788D9-9D48-23C2-D061-BF5420BB8DF7}"/>
              </a:ext>
            </a:extLst>
          </p:cNvPr>
          <p:cNvSpPr/>
          <p:nvPr/>
        </p:nvSpPr>
        <p:spPr>
          <a:xfrm>
            <a:off x="764540" y="4141601"/>
            <a:ext cx="618236" cy="4572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124C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CD</a:t>
            </a:r>
          </a:p>
        </p:txBody>
      </p:sp>
      <p:sp>
        <p:nvSpPr>
          <p:cNvPr id="24" name="Rounded Rectangle 14">
            <a:extLst>
              <a:ext uri="{FF2B5EF4-FFF2-40B4-BE49-F238E27FC236}">
                <a16:creationId xmlns:a16="http://schemas.microsoft.com/office/drawing/2014/main" id="{3683A8C8-14F9-FF93-8FDD-6D9CB4BFC2E1}"/>
              </a:ext>
            </a:extLst>
          </p:cNvPr>
          <p:cNvSpPr/>
          <p:nvPr/>
        </p:nvSpPr>
        <p:spPr>
          <a:xfrm>
            <a:off x="1477772" y="4141601"/>
            <a:ext cx="618236" cy="4572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124C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</a:t>
            </a:r>
          </a:p>
        </p:txBody>
      </p:sp>
      <p:sp>
        <p:nvSpPr>
          <p:cNvPr id="26" name="Rounded Rectangle 15">
            <a:extLst>
              <a:ext uri="{FF2B5EF4-FFF2-40B4-BE49-F238E27FC236}">
                <a16:creationId xmlns:a16="http://schemas.microsoft.com/office/drawing/2014/main" id="{3938B44B-434E-EB49-2EEE-EA2AE5E78E28}"/>
              </a:ext>
            </a:extLst>
          </p:cNvPr>
          <p:cNvSpPr/>
          <p:nvPr/>
        </p:nvSpPr>
        <p:spPr>
          <a:xfrm>
            <a:off x="2191004" y="4141601"/>
            <a:ext cx="566928" cy="4572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124C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</a:p>
        </p:txBody>
      </p:sp>
      <p:sp>
        <p:nvSpPr>
          <p:cNvPr id="28" name="Rounded Rectangle 16">
            <a:extLst>
              <a:ext uri="{FF2B5EF4-FFF2-40B4-BE49-F238E27FC236}">
                <a16:creationId xmlns:a16="http://schemas.microsoft.com/office/drawing/2014/main" id="{DA3FC6F9-1C7C-D794-E1CD-5A0B6ADB6121}"/>
              </a:ext>
            </a:extLst>
          </p:cNvPr>
          <p:cNvSpPr/>
          <p:nvPr/>
        </p:nvSpPr>
        <p:spPr>
          <a:xfrm>
            <a:off x="2904236" y="4141601"/>
            <a:ext cx="566928" cy="4572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124C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</a:p>
        </p:txBody>
      </p:sp>
      <p:sp>
        <p:nvSpPr>
          <p:cNvPr id="30" name="Rounded Rectangle 17">
            <a:extLst>
              <a:ext uri="{FF2B5EF4-FFF2-40B4-BE49-F238E27FC236}">
                <a16:creationId xmlns:a16="http://schemas.microsoft.com/office/drawing/2014/main" id="{74679EC7-843B-AEB3-7860-4C43580F2936}"/>
              </a:ext>
            </a:extLst>
          </p:cNvPr>
          <p:cNvSpPr/>
          <p:nvPr/>
        </p:nvSpPr>
        <p:spPr>
          <a:xfrm>
            <a:off x="3617468" y="4141601"/>
            <a:ext cx="566928" cy="4572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124C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2C</a:t>
            </a:r>
          </a:p>
        </p:txBody>
      </p:sp>
      <p:sp>
        <p:nvSpPr>
          <p:cNvPr id="32" name="Rounded Rectangle 18">
            <a:extLst>
              <a:ext uri="{FF2B5EF4-FFF2-40B4-BE49-F238E27FC236}">
                <a16:creationId xmlns:a16="http://schemas.microsoft.com/office/drawing/2014/main" id="{C9E90E77-8E09-72B6-3987-AA30AD5E507B}"/>
              </a:ext>
            </a:extLst>
          </p:cNvPr>
          <p:cNvSpPr/>
          <p:nvPr/>
        </p:nvSpPr>
        <p:spPr>
          <a:xfrm>
            <a:off x="4330700" y="4141601"/>
            <a:ext cx="566928" cy="4572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124C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</p:txBody>
      </p:sp>
      <p:sp>
        <p:nvSpPr>
          <p:cNvPr id="34" name="Rounded Rectangle 19">
            <a:extLst>
              <a:ext uri="{FF2B5EF4-FFF2-40B4-BE49-F238E27FC236}">
                <a16:creationId xmlns:a16="http://schemas.microsoft.com/office/drawing/2014/main" id="{8A14BA1F-82C1-D603-E3CF-EBFC489FB5DA}"/>
              </a:ext>
            </a:extLst>
          </p:cNvPr>
          <p:cNvSpPr/>
          <p:nvPr/>
        </p:nvSpPr>
        <p:spPr>
          <a:xfrm>
            <a:off x="5043932" y="4141601"/>
            <a:ext cx="566928" cy="4572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124C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85</a:t>
            </a:r>
          </a:p>
        </p:txBody>
      </p:sp>
      <p:sp>
        <p:nvSpPr>
          <p:cNvPr id="36" name="Rounded Rectangle 20">
            <a:extLst>
              <a:ext uri="{FF2B5EF4-FFF2-40B4-BE49-F238E27FC236}">
                <a16:creationId xmlns:a16="http://schemas.microsoft.com/office/drawing/2014/main" id="{7F91AD0F-A3A8-853A-5C17-BA776AEC40D9}"/>
              </a:ext>
            </a:extLst>
          </p:cNvPr>
          <p:cNvSpPr/>
          <p:nvPr/>
        </p:nvSpPr>
        <p:spPr>
          <a:xfrm>
            <a:off x="5757163" y="4141601"/>
            <a:ext cx="662555" cy="4572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24C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AA</a:t>
            </a:r>
          </a:p>
        </p:txBody>
      </p:sp>
      <p:sp>
        <p:nvSpPr>
          <p:cNvPr id="38" name="TextBox 21">
            <a:extLst>
              <a:ext uri="{FF2B5EF4-FFF2-40B4-BE49-F238E27FC236}">
                <a16:creationId xmlns:a16="http://schemas.microsoft.com/office/drawing/2014/main" id="{E23782D9-11F1-9BD8-358C-A68E663E19E2}"/>
              </a:ext>
            </a:extLst>
          </p:cNvPr>
          <p:cNvSpPr txBox="1"/>
          <p:nvPr/>
        </p:nvSpPr>
        <p:spPr>
          <a:xfrm>
            <a:off x="764540" y="4690240"/>
            <a:ext cx="1280160" cy="2743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/>
            <a:r>
              <a:rPr sz="1300" b="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帧头</a:t>
            </a:r>
            <a:endParaRPr sz="13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Box 22">
            <a:extLst>
              <a:ext uri="{FF2B5EF4-FFF2-40B4-BE49-F238E27FC236}">
                <a16:creationId xmlns:a16="http://schemas.microsoft.com/office/drawing/2014/main" id="{36BE0107-9B4D-A2C0-3BFB-E4762D1EDD58}"/>
              </a:ext>
            </a:extLst>
          </p:cNvPr>
          <p:cNvSpPr txBox="1"/>
          <p:nvPr/>
        </p:nvSpPr>
        <p:spPr>
          <a:xfrm>
            <a:off x="2191004" y="4690240"/>
            <a:ext cx="1280160" cy="2743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/>
            <a:r>
              <a:rPr sz="13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左/</a:t>
            </a:r>
            <a:r>
              <a:rPr sz="1300" b="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转向</a:t>
            </a:r>
            <a:endParaRPr sz="13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Box 23">
            <a:extLst>
              <a:ext uri="{FF2B5EF4-FFF2-40B4-BE49-F238E27FC236}">
                <a16:creationId xmlns:a16="http://schemas.microsoft.com/office/drawing/2014/main" id="{0C9314D7-905A-B67E-662D-4CFB986D3DEF}"/>
              </a:ext>
            </a:extLst>
          </p:cNvPr>
          <p:cNvSpPr txBox="1"/>
          <p:nvPr/>
        </p:nvSpPr>
        <p:spPr>
          <a:xfrm>
            <a:off x="3617468" y="4690240"/>
            <a:ext cx="1280160" cy="2743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/>
            <a:r>
              <a:rPr sz="13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右/</a:t>
            </a:r>
            <a:r>
              <a:rPr sz="1300" b="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</a:t>
            </a:r>
            <a:endParaRPr sz="13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TextBox 24">
            <a:extLst>
              <a:ext uri="{FF2B5EF4-FFF2-40B4-BE49-F238E27FC236}">
                <a16:creationId xmlns:a16="http://schemas.microsoft.com/office/drawing/2014/main" id="{8F6F582E-7FF2-8BFD-D7A5-971C917D8BA1}"/>
              </a:ext>
            </a:extLst>
          </p:cNvPr>
          <p:cNvSpPr txBox="1"/>
          <p:nvPr/>
        </p:nvSpPr>
        <p:spPr>
          <a:xfrm>
            <a:off x="5043932" y="4690240"/>
            <a:ext cx="1280160" cy="2743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/>
            <a:r>
              <a:rPr sz="1300" b="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校验</a:t>
            </a:r>
            <a:endParaRPr sz="13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Rounded Rectangle 25">
            <a:extLst>
              <a:ext uri="{FF2B5EF4-FFF2-40B4-BE49-F238E27FC236}">
                <a16:creationId xmlns:a16="http://schemas.microsoft.com/office/drawing/2014/main" id="{30556E1B-6047-08AF-15C4-5D2BBE92E726}"/>
              </a:ext>
            </a:extLst>
          </p:cNvPr>
          <p:cNvSpPr/>
          <p:nvPr/>
        </p:nvSpPr>
        <p:spPr>
          <a:xfrm>
            <a:off x="673100" y="5147441"/>
            <a:ext cx="2834640" cy="128016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6E7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l"/>
            <a:r>
              <a:rPr sz="1600" b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 16 位字段拆开来看：</a:t>
            </a:r>
          </a:p>
          <a:p>
            <a:pPr algn="l"/>
            <a:r>
              <a:rPr sz="1600" b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0xABCD → CD AB</a:t>
            </a:r>
          </a:p>
          <a:p>
            <a:pPr algn="l"/>
            <a:r>
              <a:rPr sz="1600" b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0x0064 → 64 00</a:t>
            </a:r>
          </a:p>
          <a:p>
            <a:pPr algn="l"/>
            <a:r>
              <a:rPr sz="1600" b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0x012C → 2C 01</a:t>
            </a:r>
          </a:p>
          <a:p>
            <a:pPr algn="l"/>
            <a:r>
              <a:rPr sz="1600" b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0xAA85 → 85 AA</a:t>
            </a:r>
          </a:p>
        </p:txBody>
      </p:sp>
      <p:sp>
        <p:nvSpPr>
          <p:cNvPr id="48" name="Rounded Rectangle 26">
            <a:extLst>
              <a:ext uri="{FF2B5EF4-FFF2-40B4-BE49-F238E27FC236}">
                <a16:creationId xmlns:a16="http://schemas.microsoft.com/office/drawing/2014/main" id="{4368B1AC-F559-519A-C12D-2F02372D327F}"/>
              </a:ext>
            </a:extLst>
          </p:cNvPr>
          <p:cNvSpPr/>
          <p:nvPr/>
        </p:nvSpPr>
        <p:spPr>
          <a:xfrm>
            <a:off x="3690620" y="5147441"/>
            <a:ext cx="3840480" cy="1234440"/>
          </a:xfrm>
          <a:prstGeom prst="roundRect">
            <a:avLst/>
          </a:prstGeom>
          <a:solidFill>
            <a:srgbClr val="FFF4F4"/>
          </a:solidFill>
          <a:ln w="19050">
            <a:solidFill>
              <a:srgbClr val="C8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补充：带负数时，int16 要按补码发送。</a:t>
            </a:r>
          </a:p>
          <a:p>
            <a:pPr algn="l"/>
            <a:r>
              <a:rPr sz="1500" b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例如左输入 = -200，对应十六进制是 0xFF38，</a:t>
            </a:r>
          </a:p>
          <a:p>
            <a:pPr algn="l"/>
            <a:r>
              <a:rPr sz="1500" b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实际发送低字节在前：38 FF。</a:t>
            </a:r>
          </a:p>
        </p:txBody>
      </p:sp>
      <p:sp>
        <p:nvSpPr>
          <p:cNvPr id="50" name="Rounded Rectangle 27">
            <a:extLst>
              <a:ext uri="{FF2B5EF4-FFF2-40B4-BE49-F238E27FC236}">
                <a16:creationId xmlns:a16="http://schemas.microsoft.com/office/drawing/2014/main" id="{35BB8D69-9207-E0F3-AE1D-051C703D6EC6}"/>
              </a:ext>
            </a:extLst>
          </p:cNvPr>
          <p:cNvSpPr/>
          <p:nvPr/>
        </p:nvSpPr>
        <p:spPr>
          <a:xfrm>
            <a:off x="7896861" y="4598801"/>
            <a:ext cx="3749039" cy="1783080"/>
          </a:xfrm>
          <a:prstGeom prst="roundRect">
            <a:avLst/>
          </a:prstGeom>
          <a:solidFill>
            <a:srgbClr val="EDFAF8"/>
          </a:solidFill>
          <a:ln w="19050">
            <a:solidFill>
              <a:srgbClr val="239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l"/>
            <a:r>
              <a:rPr sz="1500" b="0" dirty="0" err="1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课堂重点</a:t>
            </a:r>
            <a:endParaRPr sz="1500" b="0" dirty="0">
              <a:solidFill>
                <a:srgbClr val="2828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500" b="0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sz="1500" b="0" dirty="0" err="1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控制帧不是字符串，而是二进制字节流</a:t>
            </a:r>
            <a:endParaRPr sz="1500" b="0" dirty="0">
              <a:solidFill>
                <a:srgbClr val="2828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500" b="0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sz="1500" b="0" dirty="0" err="1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正负数都要按</a:t>
            </a:r>
            <a:r>
              <a:rPr sz="1500" b="0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int16 </a:t>
            </a:r>
            <a:r>
              <a:rPr sz="1500" b="0" dirty="0" err="1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endParaRPr sz="1500" b="0" dirty="0">
              <a:solidFill>
                <a:srgbClr val="2828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500" b="0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sz="1500" b="0" dirty="0" err="1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小端序是最容易出错的地方</a:t>
            </a:r>
            <a:endParaRPr sz="1500" b="0" dirty="0">
              <a:solidFill>
                <a:srgbClr val="2828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4197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E1C33EE8-B14E-DD27-331B-3121F2845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9991E954-6FCE-A216-E3F0-63B7A32674B6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 descr="GZ+SOCH White">
            <a:extLst>
              <a:ext uri="{FF2B5EF4-FFF2-40B4-BE49-F238E27FC236}">
                <a16:creationId xmlns:a16="http://schemas.microsoft.com/office/drawing/2014/main" id="{477BC24F-1E6B-8093-E611-8190539C45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624" r="31738"/>
          <a:stretch>
            <a:fillRect/>
          </a:stretch>
        </p:blipFill>
        <p:spPr>
          <a:xfrm>
            <a:off x="182880" y="270510"/>
            <a:ext cx="3330575" cy="53975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7CAD119-FD40-25C8-1726-47C749D3ED57}"/>
              </a:ext>
            </a:extLst>
          </p:cNvPr>
          <p:cNvSpPr txBox="1"/>
          <p:nvPr/>
        </p:nvSpPr>
        <p:spPr>
          <a:xfrm>
            <a:off x="8947785" y="270510"/>
            <a:ext cx="31134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Space Grotesk"/>
              </a:rPr>
              <a:t> 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以技造物，智联校园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F91FF19-C770-3A53-442C-D4EA92DA4BB5}"/>
              </a:ext>
            </a:extLst>
          </p:cNvPr>
          <p:cNvSpPr txBox="1"/>
          <p:nvPr/>
        </p:nvSpPr>
        <p:spPr>
          <a:xfrm>
            <a:off x="4833620" y="270510"/>
            <a:ext cx="2794000" cy="4889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Space Grotesk"/>
              </a:rPr>
              <a:t>Cyber 鲁班</a:t>
            </a: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2</a:t>
            </a: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Space Grotesk"/>
              </a:rPr>
              <a:t>026         </a:t>
            </a:r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75F5480E-5819-C213-577C-146610270517}"/>
              </a:ext>
            </a:extLst>
          </p:cNvPr>
          <p:cNvSpPr txBox="1"/>
          <p:nvPr/>
        </p:nvSpPr>
        <p:spPr>
          <a:xfrm>
            <a:off x="436704" y="1069019"/>
            <a:ext cx="640431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反馈帧示例：驱动器如何回</a:t>
            </a:r>
            <a:r>
              <a:rPr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18 </a:t>
            </a:r>
            <a:r>
              <a:rPr sz="2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字节状态帧</a:t>
            </a:r>
            <a:endParaRPr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8EEA84C5-3D59-6CC2-44EC-335DA74578A6}"/>
              </a:ext>
            </a:extLst>
          </p:cNvPr>
          <p:cNvSpPr/>
          <p:nvPr/>
        </p:nvSpPr>
        <p:spPr>
          <a:xfrm>
            <a:off x="524991" y="1593596"/>
            <a:ext cx="914400" cy="36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4" name="Table 8">
            <a:extLst>
              <a:ext uri="{FF2B5EF4-FFF2-40B4-BE49-F238E27FC236}">
                <a16:creationId xmlns:a16="http://schemas.microsoft.com/office/drawing/2014/main" id="{DBA6B81D-CFCA-1EB2-A957-87675F2A9D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438437"/>
              </p:ext>
            </p:extLst>
          </p:nvPr>
        </p:nvGraphicFramePr>
        <p:xfrm>
          <a:off x="515620" y="1940271"/>
          <a:ext cx="57150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字段</a:t>
                      </a:r>
                    </a:p>
                  </a:txBody>
                  <a:tcPr>
                    <a:solidFill>
                      <a:srgbClr val="124C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十进制</a:t>
                      </a:r>
                    </a:p>
                  </a:txBody>
                  <a:tcPr>
                    <a:solidFill>
                      <a:srgbClr val="124C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十六进制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24C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说明</a:t>
                      </a:r>
                    </a:p>
                  </a:txBody>
                  <a:tcPr>
                    <a:solidFill>
                      <a:srgbClr val="124C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起始帧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0xABCD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固定帧头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Cmd1</a:t>
                      </a:r>
                    </a:p>
                  </a:txBody>
                  <a:tcPr>
                    <a:solidFill>
                      <a:srgbClr val="EB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EB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0x0064</a:t>
                      </a:r>
                    </a:p>
                  </a:txBody>
                  <a:tcPr>
                    <a:solidFill>
                      <a:srgbClr val="EB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转向/刹车值</a:t>
                      </a:r>
                    </a:p>
                  </a:txBody>
                  <a:tcPr>
                    <a:solidFill>
                      <a:srgbClr val="EB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Cmd2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300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0x012C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282828"/>
                          </a:solidFill>
                        </a:rPr>
                        <a:t>速度</a:t>
                      </a:r>
                      <a:r>
                        <a:rPr sz="1100" b="1" dirty="0">
                          <a:solidFill>
                            <a:srgbClr val="282828"/>
                          </a:solidFill>
                        </a:rPr>
                        <a:t>/</a:t>
                      </a:r>
                      <a:r>
                        <a:rPr sz="1100" b="1" dirty="0" err="1">
                          <a:solidFill>
                            <a:srgbClr val="282828"/>
                          </a:solidFill>
                        </a:rPr>
                        <a:t>油门值</a:t>
                      </a:r>
                      <a:endParaRPr sz="1100" b="1" dirty="0">
                        <a:solidFill>
                          <a:srgbClr val="282828"/>
                        </a:solidFill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SpeedR</a:t>
                      </a:r>
                    </a:p>
                  </a:txBody>
                  <a:tcPr>
                    <a:solidFill>
                      <a:srgbClr val="EB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120</a:t>
                      </a:r>
                    </a:p>
                  </a:txBody>
                  <a:tcPr>
                    <a:solidFill>
                      <a:srgbClr val="EB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0x0078</a:t>
                      </a:r>
                    </a:p>
                  </a:txBody>
                  <a:tcPr>
                    <a:solidFill>
                      <a:srgbClr val="EB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右轮速度 RPM</a:t>
                      </a:r>
                    </a:p>
                  </a:txBody>
                  <a:tcPr>
                    <a:solidFill>
                      <a:srgbClr val="EB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SpeedL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118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0x0076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左轮速度 RPM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电池电压</a:t>
                      </a:r>
                    </a:p>
                  </a:txBody>
                  <a:tcPr>
                    <a:solidFill>
                      <a:srgbClr val="EB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2437</a:t>
                      </a:r>
                    </a:p>
                  </a:txBody>
                  <a:tcPr>
                    <a:solidFill>
                      <a:srgbClr val="EB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0x0985</a:t>
                      </a:r>
                    </a:p>
                  </a:txBody>
                  <a:tcPr>
                    <a:solidFill>
                      <a:srgbClr val="EB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24.37 V</a:t>
                      </a:r>
                    </a:p>
                  </a:txBody>
                  <a:tcPr>
                    <a:solidFill>
                      <a:srgbClr val="EB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温度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356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0x0164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35.6 ℃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Led</a:t>
                      </a:r>
                    </a:p>
                  </a:txBody>
                  <a:tcPr>
                    <a:solidFill>
                      <a:srgbClr val="EB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B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0x0001</a:t>
                      </a:r>
                    </a:p>
                  </a:txBody>
                  <a:tcPr>
                    <a:solidFill>
                      <a:srgbClr val="EB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LED 状态</a:t>
                      </a:r>
                    </a:p>
                  </a:txBody>
                  <a:tcPr>
                    <a:solidFill>
                      <a:srgbClr val="EB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校验和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2828"/>
                          </a:solidFill>
                        </a:rPr>
                        <a:t>0xA26B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82828"/>
                          </a:solidFill>
                        </a:rPr>
                        <a:t>XOR </a:t>
                      </a:r>
                      <a:r>
                        <a:rPr sz="1100" b="1" dirty="0" err="1">
                          <a:solidFill>
                            <a:srgbClr val="282828"/>
                          </a:solidFill>
                        </a:rPr>
                        <a:t>校验</a:t>
                      </a:r>
                      <a:endParaRPr sz="1100" b="1" dirty="0">
                        <a:solidFill>
                          <a:srgbClr val="282828"/>
                        </a:solidFill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6" name="Rounded Rectangle 9">
            <a:extLst>
              <a:ext uri="{FF2B5EF4-FFF2-40B4-BE49-F238E27FC236}">
                <a16:creationId xmlns:a16="http://schemas.microsoft.com/office/drawing/2014/main" id="{B48C5B33-17A4-7D7C-F717-EFCF9385E1BC}"/>
              </a:ext>
            </a:extLst>
          </p:cNvPr>
          <p:cNvSpPr/>
          <p:nvPr/>
        </p:nvSpPr>
        <p:spPr>
          <a:xfrm>
            <a:off x="6605270" y="1890646"/>
            <a:ext cx="5212080" cy="1005840"/>
          </a:xfrm>
          <a:prstGeom prst="roundRect">
            <a:avLst/>
          </a:prstGeom>
          <a:solidFill>
            <a:srgbClr val="FFF8EB"/>
          </a:solidFill>
          <a:ln w="19050">
            <a:solidFill>
              <a:srgbClr val="E89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l"/>
            <a:r>
              <a:rPr sz="1600" b="1" dirty="0" err="1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换算关系</a:t>
            </a:r>
            <a:endParaRPr sz="1600" b="1" dirty="0">
              <a:solidFill>
                <a:srgbClr val="2828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600" b="1" dirty="0" err="1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电池电压</a:t>
            </a:r>
            <a:r>
              <a:rPr sz="1600" b="1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sz="1600" b="1" dirty="0" err="1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字段值</a:t>
            </a:r>
            <a:r>
              <a:rPr sz="1600" b="1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 100 = 2437 / 100 = 24.37 V</a:t>
            </a:r>
          </a:p>
          <a:p>
            <a:pPr algn="l"/>
            <a:r>
              <a:rPr sz="1600" b="1" dirty="0" err="1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温度</a:t>
            </a:r>
            <a:r>
              <a:rPr sz="1600" b="1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sz="1600" b="1" dirty="0" err="1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字段值</a:t>
            </a:r>
            <a:r>
              <a:rPr sz="1600" b="1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 10 = 356 / 10 = 35.6 ℃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FBF46AC0-1504-85CE-9F1C-660747422086}"/>
              </a:ext>
            </a:extLst>
          </p:cNvPr>
          <p:cNvSpPr txBox="1"/>
          <p:nvPr/>
        </p:nvSpPr>
        <p:spPr>
          <a:xfrm>
            <a:off x="6514311" y="3029204"/>
            <a:ext cx="3200400" cy="27432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l"/>
            <a:r>
              <a:rPr sz="18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实际回传的</a:t>
            </a:r>
            <a:r>
              <a:rPr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18 </a:t>
            </a:r>
            <a:r>
              <a:rPr sz="18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个字节</a:t>
            </a:r>
            <a:endParaRPr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ounded Rectangle 11">
            <a:extLst>
              <a:ext uri="{FF2B5EF4-FFF2-40B4-BE49-F238E27FC236}">
                <a16:creationId xmlns:a16="http://schemas.microsoft.com/office/drawing/2014/main" id="{585BB4FE-B9D8-8BB1-D454-2793A88961D7}"/>
              </a:ext>
            </a:extLst>
          </p:cNvPr>
          <p:cNvSpPr/>
          <p:nvPr/>
        </p:nvSpPr>
        <p:spPr>
          <a:xfrm>
            <a:off x="6650990" y="3429000"/>
            <a:ext cx="438912" cy="3840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24C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CD</a:t>
            </a:r>
          </a:p>
        </p:txBody>
      </p:sp>
      <p:sp>
        <p:nvSpPr>
          <p:cNvPr id="22" name="Rounded Rectangle 12">
            <a:extLst>
              <a:ext uri="{FF2B5EF4-FFF2-40B4-BE49-F238E27FC236}">
                <a16:creationId xmlns:a16="http://schemas.microsoft.com/office/drawing/2014/main" id="{838BC462-001D-4C69-146C-B32DD02E6E24}"/>
              </a:ext>
            </a:extLst>
          </p:cNvPr>
          <p:cNvSpPr/>
          <p:nvPr/>
        </p:nvSpPr>
        <p:spPr>
          <a:xfrm>
            <a:off x="7181342" y="3429000"/>
            <a:ext cx="438912" cy="3840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24C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</a:t>
            </a:r>
          </a:p>
        </p:txBody>
      </p:sp>
      <p:sp>
        <p:nvSpPr>
          <p:cNvPr id="24" name="Rounded Rectangle 13">
            <a:extLst>
              <a:ext uri="{FF2B5EF4-FFF2-40B4-BE49-F238E27FC236}">
                <a16:creationId xmlns:a16="http://schemas.microsoft.com/office/drawing/2014/main" id="{3B82AB96-C68B-40D9-B2FD-5E2671BD559E}"/>
              </a:ext>
            </a:extLst>
          </p:cNvPr>
          <p:cNvSpPr/>
          <p:nvPr/>
        </p:nvSpPr>
        <p:spPr>
          <a:xfrm>
            <a:off x="7711694" y="3429000"/>
            <a:ext cx="438912" cy="3840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124C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</a:p>
        </p:txBody>
      </p:sp>
      <p:sp>
        <p:nvSpPr>
          <p:cNvPr id="26" name="Rounded Rectangle 14">
            <a:extLst>
              <a:ext uri="{FF2B5EF4-FFF2-40B4-BE49-F238E27FC236}">
                <a16:creationId xmlns:a16="http://schemas.microsoft.com/office/drawing/2014/main" id="{E492B728-41E7-DCF8-203D-1991AF466E13}"/>
              </a:ext>
            </a:extLst>
          </p:cNvPr>
          <p:cNvSpPr/>
          <p:nvPr/>
        </p:nvSpPr>
        <p:spPr>
          <a:xfrm>
            <a:off x="8242045" y="3429000"/>
            <a:ext cx="438912" cy="3840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24C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</a:p>
        </p:txBody>
      </p:sp>
      <p:sp>
        <p:nvSpPr>
          <p:cNvPr id="28" name="Rounded Rectangle 15">
            <a:extLst>
              <a:ext uri="{FF2B5EF4-FFF2-40B4-BE49-F238E27FC236}">
                <a16:creationId xmlns:a16="http://schemas.microsoft.com/office/drawing/2014/main" id="{AA745DAF-41E4-FCCD-170E-7A7E61FF5C45}"/>
              </a:ext>
            </a:extLst>
          </p:cNvPr>
          <p:cNvSpPr/>
          <p:nvPr/>
        </p:nvSpPr>
        <p:spPr>
          <a:xfrm>
            <a:off x="8772398" y="3429000"/>
            <a:ext cx="438912" cy="3840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24C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2C</a:t>
            </a:r>
          </a:p>
        </p:txBody>
      </p:sp>
      <p:sp>
        <p:nvSpPr>
          <p:cNvPr id="30" name="Rounded Rectangle 16">
            <a:extLst>
              <a:ext uri="{FF2B5EF4-FFF2-40B4-BE49-F238E27FC236}">
                <a16:creationId xmlns:a16="http://schemas.microsoft.com/office/drawing/2014/main" id="{007E4A3D-E1DE-A32A-65CF-F1909B4E020B}"/>
              </a:ext>
            </a:extLst>
          </p:cNvPr>
          <p:cNvSpPr/>
          <p:nvPr/>
        </p:nvSpPr>
        <p:spPr>
          <a:xfrm>
            <a:off x="9302750" y="3429000"/>
            <a:ext cx="438912" cy="3840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24C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</p:txBody>
      </p:sp>
      <p:sp>
        <p:nvSpPr>
          <p:cNvPr id="32" name="Rounded Rectangle 17">
            <a:extLst>
              <a:ext uri="{FF2B5EF4-FFF2-40B4-BE49-F238E27FC236}">
                <a16:creationId xmlns:a16="http://schemas.microsoft.com/office/drawing/2014/main" id="{2B8F50E1-2E01-6768-F4BE-CAD65CB36381}"/>
              </a:ext>
            </a:extLst>
          </p:cNvPr>
          <p:cNvSpPr/>
          <p:nvPr/>
        </p:nvSpPr>
        <p:spPr>
          <a:xfrm>
            <a:off x="9833101" y="3429000"/>
            <a:ext cx="438912" cy="3840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24C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78</a:t>
            </a:r>
          </a:p>
        </p:txBody>
      </p:sp>
      <p:sp>
        <p:nvSpPr>
          <p:cNvPr id="34" name="Rounded Rectangle 18">
            <a:extLst>
              <a:ext uri="{FF2B5EF4-FFF2-40B4-BE49-F238E27FC236}">
                <a16:creationId xmlns:a16="http://schemas.microsoft.com/office/drawing/2014/main" id="{0AA3CAB4-5D9E-ECDB-AF99-8957BF94D320}"/>
              </a:ext>
            </a:extLst>
          </p:cNvPr>
          <p:cNvSpPr/>
          <p:nvPr/>
        </p:nvSpPr>
        <p:spPr>
          <a:xfrm>
            <a:off x="10363453" y="3429000"/>
            <a:ext cx="438912" cy="3840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24C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</a:p>
        </p:txBody>
      </p:sp>
      <p:sp>
        <p:nvSpPr>
          <p:cNvPr id="36" name="Rounded Rectangle 19">
            <a:extLst>
              <a:ext uri="{FF2B5EF4-FFF2-40B4-BE49-F238E27FC236}">
                <a16:creationId xmlns:a16="http://schemas.microsoft.com/office/drawing/2014/main" id="{8FEC0EFA-E04A-987D-C271-9B69CA363C1C}"/>
              </a:ext>
            </a:extLst>
          </p:cNvPr>
          <p:cNvSpPr/>
          <p:nvPr/>
        </p:nvSpPr>
        <p:spPr>
          <a:xfrm>
            <a:off x="10893806" y="3429000"/>
            <a:ext cx="438912" cy="3840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24C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76</a:t>
            </a:r>
          </a:p>
        </p:txBody>
      </p:sp>
      <p:sp>
        <p:nvSpPr>
          <p:cNvPr id="38" name="Rounded Rectangle 20">
            <a:extLst>
              <a:ext uri="{FF2B5EF4-FFF2-40B4-BE49-F238E27FC236}">
                <a16:creationId xmlns:a16="http://schemas.microsoft.com/office/drawing/2014/main" id="{96EBFBE2-B04A-7E58-752F-1914D2F67328}"/>
              </a:ext>
            </a:extLst>
          </p:cNvPr>
          <p:cNvSpPr/>
          <p:nvPr/>
        </p:nvSpPr>
        <p:spPr>
          <a:xfrm>
            <a:off x="6650990" y="3995928"/>
            <a:ext cx="438912" cy="3840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24C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</a:p>
        </p:txBody>
      </p:sp>
      <p:sp>
        <p:nvSpPr>
          <p:cNvPr id="40" name="Rounded Rectangle 21">
            <a:extLst>
              <a:ext uri="{FF2B5EF4-FFF2-40B4-BE49-F238E27FC236}">
                <a16:creationId xmlns:a16="http://schemas.microsoft.com/office/drawing/2014/main" id="{8C65ABAC-1DBF-27DF-72B7-B87633ED4E32}"/>
              </a:ext>
            </a:extLst>
          </p:cNvPr>
          <p:cNvSpPr/>
          <p:nvPr/>
        </p:nvSpPr>
        <p:spPr>
          <a:xfrm>
            <a:off x="7181342" y="3995928"/>
            <a:ext cx="438912" cy="3840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24C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85</a:t>
            </a:r>
          </a:p>
        </p:txBody>
      </p:sp>
      <p:sp>
        <p:nvSpPr>
          <p:cNvPr id="42" name="Rounded Rectangle 22">
            <a:extLst>
              <a:ext uri="{FF2B5EF4-FFF2-40B4-BE49-F238E27FC236}">
                <a16:creationId xmlns:a16="http://schemas.microsoft.com/office/drawing/2014/main" id="{F4B3ECD9-5B4B-CBC7-F389-36192B15CBF2}"/>
              </a:ext>
            </a:extLst>
          </p:cNvPr>
          <p:cNvSpPr/>
          <p:nvPr/>
        </p:nvSpPr>
        <p:spPr>
          <a:xfrm>
            <a:off x="7711694" y="3995928"/>
            <a:ext cx="438912" cy="3840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24C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09</a:t>
            </a:r>
          </a:p>
        </p:txBody>
      </p:sp>
      <p:sp>
        <p:nvSpPr>
          <p:cNvPr id="44" name="Rounded Rectangle 23">
            <a:extLst>
              <a:ext uri="{FF2B5EF4-FFF2-40B4-BE49-F238E27FC236}">
                <a16:creationId xmlns:a16="http://schemas.microsoft.com/office/drawing/2014/main" id="{2D9369DF-2221-2574-E628-A3C76F692E4F}"/>
              </a:ext>
            </a:extLst>
          </p:cNvPr>
          <p:cNvSpPr/>
          <p:nvPr/>
        </p:nvSpPr>
        <p:spPr>
          <a:xfrm>
            <a:off x="8242045" y="3995928"/>
            <a:ext cx="438912" cy="3840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24C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</a:p>
        </p:txBody>
      </p:sp>
      <p:sp>
        <p:nvSpPr>
          <p:cNvPr id="46" name="Rounded Rectangle 24">
            <a:extLst>
              <a:ext uri="{FF2B5EF4-FFF2-40B4-BE49-F238E27FC236}">
                <a16:creationId xmlns:a16="http://schemas.microsoft.com/office/drawing/2014/main" id="{D6BE9E50-DE9D-2C99-7B3F-E2ED352DA5DE}"/>
              </a:ext>
            </a:extLst>
          </p:cNvPr>
          <p:cNvSpPr/>
          <p:nvPr/>
        </p:nvSpPr>
        <p:spPr>
          <a:xfrm>
            <a:off x="8772398" y="3995928"/>
            <a:ext cx="438912" cy="3840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24C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</p:txBody>
      </p:sp>
      <p:sp>
        <p:nvSpPr>
          <p:cNvPr id="48" name="Rounded Rectangle 25">
            <a:extLst>
              <a:ext uri="{FF2B5EF4-FFF2-40B4-BE49-F238E27FC236}">
                <a16:creationId xmlns:a16="http://schemas.microsoft.com/office/drawing/2014/main" id="{1EA9999D-96BD-128E-E728-A601E4BE0E5C}"/>
              </a:ext>
            </a:extLst>
          </p:cNvPr>
          <p:cNvSpPr/>
          <p:nvPr/>
        </p:nvSpPr>
        <p:spPr>
          <a:xfrm>
            <a:off x="9302750" y="3995928"/>
            <a:ext cx="438912" cy="3840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24C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</p:txBody>
      </p:sp>
      <p:sp>
        <p:nvSpPr>
          <p:cNvPr id="50" name="Rounded Rectangle 26">
            <a:extLst>
              <a:ext uri="{FF2B5EF4-FFF2-40B4-BE49-F238E27FC236}">
                <a16:creationId xmlns:a16="http://schemas.microsoft.com/office/drawing/2014/main" id="{DCD3242E-1F6A-CE38-8F91-FF9DD187627A}"/>
              </a:ext>
            </a:extLst>
          </p:cNvPr>
          <p:cNvSpPr/>
          <p:nvPr/>
        </p:nvSpPr>
        <p:spPr>
          <a:xfrm>
            <a:off x="9833101" y="3995928"/>
            <a:ext cx="438912" cy="3840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24C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</a:p>
        </p:txBody>
      </p:sp>
      <p:sp>
        <p:nvSpPr>
          <p:cNvPr id="52" name="Rounded Rectangle 27">
            <a:extLst>
              <a:ext uri="{FF2B5EF4-FFF2-40B4-BE49-F238E27FC236}">
                <a16:creationId xmlns:a16="http://schemas.microsoft.com/office/drawing/2014/main" id="{0E5B1955-3D89-1806-F1B0-12B6E81E0D2F}"/>
              </a:ext>
            </a:extLst>
          </p:cNvPr>
          <p:cNvSpPr/>
          <p:nvPr/>
        </p:nvSpPr>
        <p:spPr>
          <a:xfrm>
            <a:off x="10363453" y="3995928"/>
            <a:ext cx="438912" cy="3840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24C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6B</a:t>
            </a:r>
          </a:p>
        </p:txBody>
      </p:sp>
      <p:sp>
        <p:nvSpPr>
          <p:cNvPr id="54" name="Rounded Rectangle 28">
            <a:extLst>
              <a:ext uri="{FF2B5EF4-FFF2-40B4-BE49-F238E27FC236}">
                <a16:creationId xmlns:a16="http://schemas.microsoft.com/office/drawing/2014/main" id="{F43CFD60-90AE-888C-8C62-A1DC6FFF3E5F}"/>
              </a:ext>
            </a:extLst>
          </p:cNvPr>
          <p:cNvSpPr/>
          <p:nvPr/>
        </p:nvSpPr>
        <p:spPr>
          <a:xfrm>
            <a:off x="10893806" y="3995928"/>
            <a:ext cx="438912" cy="3840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24C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A2</a:t>
            </a:r>
          </a:p>
        </p:txBody>
      </p:sp>
      <p:sp>
        <p:nvSpPr>
          <p:cNvPr id="56" name="TextBox 29">
            <a:extLst>
              <a:ext uri="{FF2B5EF4-FFF2-40B4-BE49-F238E27FC236}">
                <a16:creationId xmlns:a16="http://schemas.microsoft.com/office/drawing/2014/main" id="{D21D27CA-6E36-F96D-6454-5C41E42FFFB9}"/>
              </a:ext>
            </a:extLst>
          </p:cNvPr>
          <p:cNvSpPr txBox="1"/>
          <p:nvPr/>
        </p:nvSpPr>
        <p:spPr>
          <a:xfrm>
            <a:off x="6650990" y="4626864"/>
            <a:ext cx="4983480" cy="32004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ctr"/>
            <a:r>
              <a:rPr sz="13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CD AB | 64 00 | 2C 01 | 78 00 | 76 00 | 85 09 | 64 01 | 01 00 | 6B A2</a:t>
            </a:r>
          </a:p>
        </p:txBody>
      </p:sp>
      <p:sp>
        <p:nvSpPr>
          <p:cNvPr id="58" name="TextBox 30">
            <a:extLst>
              <a:ext uri="{FF2B5EF4-FFF2-40B4-BE49-F238E27FC236}">
                <a16:creationId xmlns:a16="http://schemas.microsoft.com/office/drawing/2014/main" id="{D3F21D2B-1369-0D26-BF56-C7E482BA9951}"/>
              </a:ext>
            </a:extLst>
          </p:cNvPr>
          <p:cNvSpPr txBox="1"/>
          <p:nvPr/>
        </p:nvSpPr>
        <p:spPr>
          <a:xfrm>
            <a:off x="6650990" y="4919472"/>
            <a:ext cx="4983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帧头</a:t>
            </a:r>
            <a:r>
              <a:rPr sz="13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Cmd1 | Cmd2 | </a:t>
            </a:r>
            <a:r>
              <a:rPr sz="1300" b="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右轮</a:t>
            </a:r>
            <a:r>
              <a:rPr sz="13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sz="1300" b="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左轮</a:t>
            </a:r>
            <a:r>
              <a:rPr sz="13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sz="1300" b="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电压</a:t>
            </a:r>
            <a:r>
              <a:rPr sz="13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sz="1300" b="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温度</a:t>
            </a:r>
            <a:r>
              <a:rPr sz="13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LED | </a:t>
            </a:r>
            <a:r>
              <a:rPr sz="1300" b="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校验</a:t>
            </a:r>
            <a:endParaRPr sz="13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Rounded Rectangle 31">
            <a:extLst>
              <a:ext uri="{FF2B5EF4-FFF2-40B4-BE49-F238E27FC236}">
                <a16:creationId xmlns:a16="http://schemas.microsoft.com/office/drawing/2014/main" id="{CC28F285-C740-5DFB-2415-315A359F637F}"/>
              </a:ext>
            </a:extLst>
          </p:cNvPr>
          <p:cNvSpPr/>
          <p:nvPr/>
        </p:nvSpPr>
        <p:spPr>
          <a:xfrm>
            <a:off x="6605270" y="5212080"/>
            <a:ext cx="5212080" cy="960120"/>
          </a:xfrm>
          <a:prstGeom prst="roundRect">
            <a:avLst/>
          </a:prstGeom>
          <a:solidFill>
            <a:srgbClr val="EDFAF8"/>
          </a:solidFill>
          <a:ln w="19050">
            <a:solidFill>
              <a:srgbClr val="239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l"/>
            <a:r>
              <a:rPr sz="1500" b="1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sz="1500" b="1" dirty="0" err="1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反馈帧是“我现在状态怎么样</a:t>
            </a:r>
            <a:r>
              <a:rPr sz="1500" b="1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</a:p>
          <a:p>
            <a:pPr algn="l"/>
            <a:r>
              <a:rPr sz="1500" b="1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sz="1500" b="1" dirty="0" err="1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主控常用它解析轮速、电压、温度</a:t>
            </a:r>
            <a:endParaRPr sz="1500" b="1" dirty="0">
              <a:solidFill>
                <a:srgbClr val="2828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500" b="1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sz="1500" b="1" dirty="0" err="1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反馈解析正确，才能做监控和保护</a:t>
            </a:r>
            <a:endParaRPr sz="1500" b="1" dirty="0">
              <a:solidFill>
                <a:srgbClr val="2828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9820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725AE8E3-8802-8165-F4FF-6DF793C35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EC421077-AF38-F25D-2C66-E090A7AEF86C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 descr="GZ+SOCH White">
            <a:extLst>
              <a:ext uri="{FF2B5EF4-FFF2-40B4-BE49-F238E27FC236}">
                <a16:creationId xmlns:a16="http://schemas.microsoft.com/office/drawing/2014/main" id="{13D15BC7-44C3-DB5A-138F-3EE3D82616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624" r="31738"/>
          <a:stretch>
            <a:fillRect/>
          </a:stretch>
        </p:blipFill>
        <p:spPr>
          <a:xfrm>
            <a:off x="182880" y="270510"/>
            <a:ext cx="3330575" cy="53975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24B1A02-E616-DE35-8562-BBACE5E8A7E9}"/>
              </a:ext>
            </a:extLst>
          </p:cNvPr>
          <p:cNvSpPr txBox="1"/>
          <p:nvPr/>
        </p:nvSpPr>
        <p:spPr>
          <a:xfrm>
            <a:off x="8947785" y="270510"/>
            <a:ext cx="31134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 </a:t>
            </a:r>
            <a:r>
              <a:rPr lang="zh-CN" altLang="en-US" sz="2400">
                <a:solidFill>
                  <a:schemeClr val="bg1"/>
                </a:solidFill>
                <a:latin typeface="汉仪颜楷简" panose="00020600040101010101" charset="-122"/>
                <a:ea typeface="汉仪颜楷简" panose="00020600040101010101" charset="-122"/>
                <a:sym typeface="+mn-ea"/>
              </a:rPr>
              <a:t>以技造物，智联校园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867AC4-080C-9353-4D46-E79BDF944451}"/>
              </a:ext>
            </a:extLst>
          </p:cNvPr>
          <p:cNvSpPr txBox="1"/>
          <p:nvPr/>
        </p:nvSpPr>
        <p:spPr>
          <a:xfrm>
            <a:off x="4833620" y="270510"/>
            <a:ext cx="2794000" cy="4889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Cyber 鲁班</a:t>
            </a: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 2</a:t>
            </a: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026         </a:t>
            </a:r>
            <a:endParaRPr lang="zh-CN" altLang="en-US" sz="2400">
              <a:solidFill>
                <a:schemeClr val="bg1"/>
              </a:solidFill>
              <a:latin typeface="汉仪颜楷简" panose="00020600040101010101" charset="-122"/>
              <a:ea typeface="汉仪颜楷简" panose="00020600040101010101" charset="-122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7CFECF3-DA3B-DCBB-609A-F3CD325B0D9A}"/>
              </a:ext>
            </a:extLst>
          </p:cNvPr>
          <p:cNvSpPr/>
          <p:nvPr/>
        </p:nvSpPr>
        <p:spPr>
          <a:xfrm>
            <a:off x="452155" y="1116901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新增外设时：控制板、接口与开发工具怎么选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AA15DE3A-2E72-2B54-2A82-67E5AF0A745D}"/>
              </a:ext>
            </a:extLst>
          </p:cNvPr>
          <p:cNvSpPr/>
          <p:nvPr/>
        </p:nvSpPr>
        <p:spPr>
          <a:xfrm>
            <a:off x="452155" y="1683829"/>
            <a:ext cx="1097280" cy="0"/>
          </a:xfrm>
          <a:prstGeom prst="line">
            <a:avLst/>
          </a:prstGeom>
          <a:noFill/>
          <a:ln w="12700">
            <a:solidFill>
              <a:schemeClr val="bg1"/>
            </a:solidFill>
            <a:prstDash val="solid"/>
          </a:ln>
        </p:spPr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D6EF4EC7-4496-D688-2788-39F1748ACDF4}"/>
              </a:ext>
            </a:extLst>
          </p:cNvPr>
          <p:cNvSpPr/>
          <p:nvPr/>
        </p:nvSpPr>
        <p:spPr>
          <a:xfrm>
            <a:off x="625891" y="1848421"/>
            <a:ext cx="3474720" cy="3611880"/>
          </a:xfrm>
          <a:prstGeom prst="rect">
            <a:avLst/>
          </a:prstGeom>
          <a:solidFill>
            <a:srgbClr val="F8FCFF"/>
          </a:solidFill>
          <a:ln>
            <a:solidFill>
              <a:srgbClr val="A9CC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3D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NUC / 上位机
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适合：ROS2、相机、RTK、UE5、日志、算法处理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工具：Ubuntu 22.04、ROS2 Humble、Python、C++、VS Code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原则：做系统大脑，不直接做高实时电机闭环。</a:t>
            </a:r>
            <a:endParaRPr lang="en-US" sz="15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175E3914-A4E7-72BD-B151-AE79EF4EC0B6}"/>
              </a:ext>
            </a:extLst>
          </p:cNvPr>
          <p:cNvSpPr/>
          <p:nvPr/>
        </p:nvSpPr>
        <p:spPr>
          <a:xfrm>
            <a:off x="4374931" y="1848421"/>
            <a:ext cx="3474720" cy="3611880"/>
          </a:xfrm>
          <a:prstGeom prst="rect">
            <a:avLst/>
          </a:prstGeom>
          <a:solidFill>
            <a:srgbClr val="F8FCFF"/>
          </a:solidFill>
          <a:ln>
            <a:solidFill>
              <a:srgbClr val="A9CC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3D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STM32
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适合：底盘电机、编码器、PWM、CAN、UART、IMU、急停保护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工具：STM32CubeIDE、CubeMX、HAL、串口调试、逻辑分析仪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原则：运动安全和实时控制优先用 STM32。</a:t>
            </a:r>
            <a:endParaRPr lang="en-US" sz="15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C92EC566-988A-DED1-3E28-9B93AB5AC7E4}"/>
              </a:ext>
            </a:extLst>
          </p:cNvPr>
          <p:cNvSpPr/>
          <p:nvPr/>
        </p:nvSpPr>
        <p:spPr>
          <a:xfrm>
            <a:off x="8123971" y="1848421"/>
            <a:ext cx="3474720" cy="3611880"/>
          </a:xfrm>
          <a:prstGeom prst="rect">
            <a:avLst/>
          </a:prstGeom>
          <a:solidFill>
            <a:srgbClr val="F8FCFF"/>
          </a:solidFill>
          <a:ln>
            <a:solidFill>
              <a:srgbClr val="A9CC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96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ESP32/Arduino
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适合：WiFi、蓝牙、灯带、小传感器、小舵机、快速验证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工具：PlatformIO、Arduino Framework、ESP-IDF、串口监视器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原则：适合无线小外设，不建议做主底盘闭环。</a:t>
            </a:r>
            <a:endParaRPr lang="en-US" sz="15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C1174272-F29F-69C3-3F69-2E8600377D05}"/>
              </a:ext>
            </a:extLst>
          </p:cNvPr>
          <p:cNvSpPr/>
          <p:nvPr/>
        </p:nvSpPr>
        <p:spPr>
          <a:xfrm>
            <a:off x="808771" y="5853493"/>
            <a:ext cx="10652760" cy="502920"/>
          </a:xfrm>
          <a:prstGeom prst="rect">
            <a:avLst/>
          </a:prstGeom>
          <a:solidFill>
            <a:srgbClr val="FFF7E6"/>
          </a:solidFill>
          <a:ln>
            <a:solidFill>
              <a:srgbClr val="FBBF24"/>
            </a:solidFill>
          </a:ln>
        </p:spPr>
        <p:txBody>
          <a:bodyPr wrap="square" lIns="1778" tIns="1778" rIns="1778" bIns="1778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
</a:t>
            </a:r>
            <a:r>
              <a:rPr lang="en-US" sz="2000" dirty="0" err="1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高层系统上</a:t>
            </a:r>
            <a:r>
              <a:rPr lang="en-US" sz="20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NUC；实时控制上 STM32；无线小外设和快速验证可用 ESP32/Arduino。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519737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D5278912-5A8B-40E3-5D19-37DA3E8CF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BC0468C5-6D05-69F4-207A-810F8726915B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 descr="GZ+SOCH White">
            <a:extLst>
              <a:ext uri="{FF2B5EF4-FFF2-40B4-BE49-F238E27FC236}">
                <a16:creationId xmlns:a16="http://schemas.microsoft.com/office/drawing/2014/main" id="{96FEA60A-B45D-82C5-389B-CF7780439F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624" r="31738"/>
          <a:stretch>
            <a:fillRect/>
          </a:stretch>
        </p:blipFill>
        <p:spPr>
          <a:xfrm>
            <a:off x="182880" y="270510"/>
            <a:ext cx="3330575" cy="53975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37313BD-11E9-0139-9376-52FC540DAFBE}"/>
              </a:ext>
            </a:extLst>
          </p:cNvPr>
          <p:cNvSpPr txBox="1"/>
          <p:nvPr/>
        </p:nvSpPr>
        <p:spPr>
          <a:xfrm>
            <a:off x="8947785" y="270510"/>
            <a:ext cx="31134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 </a:t>
            </a:r>
            <a:r>
              <a:rPr lang="zh-CN" altLang="en-US" sz="2400">
                <a:solidFill>
                  <a:schemeClr val="bg1"/>
                </a:solidFill>
                <a:latin typeface="汉仪颜楷简" panose="00020600040101010101" charset="-122"/>
                <a:ea typeface="汉仪颜楷简" panose="00020600040101010101" charset="-122"/>
                <a:sym typeface="+mn-ea"/>
              </a:rPr>
              <a:t>以技造物，智联校园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89AA58-DEE4-2894-EEA4-831918B71387}"/>
              </a:ext>
            </a:extLst>
          </p:cNvPr>
          <p:cNvSpPr txBox="1"/>
          <p:nvPr/>
        </p:nvSpPr>
        <p:spPr>
          <a:xfrm>
            <a:off x="4833620" y="270510"/>
            <a:ext cx="2794000" cy="4889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Cyber 鲁班</a:t>
            </a: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 2</a:t>
            </a: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026         </a:t>
            </a:r>
            <a:endParaRPr lang="zh-CN" altLang="en-US" sz="2400">
              <a:solidFill>
                <a:schemeClr val="bg1"/>
              </a:solidFill>
              <a:latin typeface="汉仪颜楷简" panose="00020600040101010101" charset="-122"/>
              <a:ea typeface="汉仪颜楷简" panose="00020600040101010101" charset="-122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34241563-312B-7269-2E07-833F90AF5A04}"/>
              </a:ext>
            </a:extLst>
          </p:cNvPr>
          <p:cNvSpPr/>
          <p:nvPr/>
        </p:nvSpPr>
        <p:spPr>
          <a:xfrm>
            <a:off x="578279" y="1001395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常见传感器 / 执行器：接口怎么选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F16C29CC-0E2F-6732-E2A0-4A84632173C2}"/>
              </a:ext>
            </a:extLst>
          </p:cNvPr>
          <p:cNvSpPr/>
          <p:nvPr/>
        </p:nvSpPr>
        <p:spPr>
          <a:xfrm>
            <a:off x="578279" y="1568323"/>
            <a:ext cx="1097280" cy="0"/>
          </a:xfrm>
          <a:prstGeom prst="line">
            <a:avLst/>
          </a:prstGeom>
          <a:noFill/>
          <a:ln w="12700">
            <a:solidFill>
              <a:schemeClr val="bg1"/>
            </a:solidFill>
            <a:prstDash val="solid"/>
          </a:ln>
        </p:spPr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D9961689-001A-452D-7FB3-DFECC7355097}"/>
              </a:ext>
            </a:extLst>
          </p:cNvPr>
          <p:cNvSpPr/>
          <p:nvPr/>
        </p:nvSpPr>
        <p:spPr>
          <a:xfrm>
            <a:off x="843455" y="1732915"/>
            <a:ext cx="1645920" cy="384048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编码器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0C081F74-F808-8684-DBB7-BD162450D217}"/>
              </a:ext>
            </a:extLst>
          </p:cNvPr>
          <p:cNvSpPr/>
          <p:nvPr/>
        </p:nvSpPr>
        <p:spPr>
          <a:xfrm>
            <a:off x="2672255" y="1796923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GPIO / 定时器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823226A7-E8AF-D927-74BA-83AAAFB71875}"/>
              </a:ext>
            </a:extLst>
          </p:cNvPr>
          <p:cNvSpPr/>
          <p:nvPr/>
        </p:nvSpPr>
        <p:spPr>
          <a:xfrm>
            <a:off x="4665647" y="1796923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轮速、里程计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4A3121C4-3D2B-75F3-58E4-E186E41D2188}"/>
              </a:ext>
            </a:extLst>
          </p:cNvPr>
          <p:cNvSpPr/>
          <p:nvPr/>
        </p:nvSpPr>
        <p:spPr>
          <a:xfrm>
            <a:off x="6421295" y="1732915"/>
            <a:ext cx="1645920" cy="384048"/>
          </a:xfrm>
          <a:prstGeom prst="rect">
            <a:avLst/>
          </a:prstGeom>
          <a:solidFill>
            <a:srgbClr val="0096A7"/>
          </a:solidFill>
          <a:ln>
            <a:solidFill>
              <a:srgbClr val="0096A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IMU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FBA81548-8075-5A21-6DF7-C674FE3A2FB6}"/>
              </a:ext>
            </a:extLst>
          </p:cNvPr>
          <p:cNvSpPr/>
          <p:nvPr/>
        </p:nvSpPr>
        <p:spPr>
          <a:xfrm>
            <a:off x="8250095" y="1796923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I2C / SPI / UART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BC020880-9EC2-82FD-E283-A3A17C26E666}"/>
              </a:ext>
            </a:extLst>
          </p:cNvPr>
          <p:cNvSpPr/>
          <p:nvPr/>
        </p:nvSpPr>
        <p:spPr>
          <a:xfrm>
            <a:off x="10243487" y="1796923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姿态、航向辅助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F242FEF1-F415-655C-EE1D-537FC5292879}"/>
              </a:ext>
            </a:extLst>
          </p:cNvPr>
          <p:cNvSpPr/>
          <p:nvPr/>
        </p:nvSpPr>
        <p:spPr>
          <a:xfrm>
            <a:off x="843455" y="2693035"/>
            <a:ext cx="1645920" cy="384048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电池电压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350884DC-8C84-C5E0-94A7-D31B1A49AA3C}"/>
              </a:ext>
            </a:extLst>
          </p:cNvPr>
          <p:cNvSpPr/>
          <p:nvPr/>
        </p:nvSpPr>
        <p:spPr>
          <a:xfrm>
            <a:off x="2672255" y="2757043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ADC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DA93D168-8149-8E54-D6D5-B32958E45C23}"/>
              </a:ext>
            </a:extLst>
          </p:cNvPr>
          <p:cNvSpPr/>
          <p:nvPr/>
        </p:nvSpPr>
        <p:spPr>
          <a:xfrm>
            <a:off x="4665647" y="2757043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低压保护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8CCA92AA-BAF5-C7FD-A7FC-AD77256BF842}"/>
              </a:ext>
            </a:extLst>
          </p:cNvPr>
          <p:cNvSpPr/>
          <p:nvPr/>
        </p:nvSpPr>
        <p:spPr>
          <a:xfrm>
            <a:off x="6421295" y="2693035"/>
            <a:ext cx="1645920" cy="384048"/>
          </a:xfrm>
          <a:prstGeom prst="rect">
            <a:avLst/>
          </a:prstGeom>
          <a:solidFill>
            <a:srgbClr val="0096A7"/>
          </a:solidFill>
          <a:ln>
            <a:solidFill>
              <a:srgbClr val="0096A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碰撞开关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588C9552-21A0-DC40-A762-0244F60E7B76}"/>
              </a:ext>
            </a:extLst>
          </p:cNvPr>
          <p:cNvSpPr/>
          <p:nvPr/>
        </p:nvSpPr>
        <p:spPr>
          <a:xfrm>
            <a:off x="8250095" y="2757043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GPIO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7C28125A-89CD-ACBD-956C-B435A5B4C9B6}"/>
              </a:ext>
            </a:extLst>
          </p:cNvPr>
          <p:cNvSpPr/>
          <p:nvPr/>
        </p:nvSpPr>
        <p:spPr>
          <a:xfrm>
            <a:off x="10243487" y="2757043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急停或防撞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6" name="Text 18">
            <a:extLst>
              <a:ext uri="{FF2B5EF4-FFF2-40B4-BE49-F238E27FC236}">
                <a16:creationId xmlns:a16="http://schemas.microsoft.com/office/drawing/2014/main" id="{55936632-EA86-3DA8-C4AB-5C7AF1529892}"/>
              </a:ext>
            </a:extLst>
          </p:cNvPr>
          <p:cNvSpPr/>
          <p:nvPr/>
        </p:nvSpPr>
        <p:spPr>
          <a:xfrm>
            <a:off x="843455" y="3653155"/>
            <a:ext cx="1645920" cy="384048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ToF / 超声波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6A7AFC09-94D9-6D36-9E21-F317F0B96014}"/>
              </a:ext>
            </a:extLst>
          </p:cNvPr>
          <p:cNvSpPr/>
          <p:nvPr/>
        </p:nvSpPr>
        <p:spPr>
          <a:xfrm>
            <a:off x="2672255" y="3717163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I2C / GPIO / UART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BE2527EE-2B44-49FE-FF51-F3D0CFCBF02E}"/>
              </a:ext>
            </a:extLst>
          </p:cNvPr>
          <p:cNvSpPr/>
          <p:nvPr/>
        </p:nvSpPr>
        <p:spPr>
          <a:xfrm>
            <a:off x="4665647" y="3717163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近距离避障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2" name="Text 21">
            <a:extLst>
              <a:ext uri="{FF2B5EF4-FFF2-40B4-BE49-F238E27FC236}">
                <a16:creationId xmlns:a16="http://schemas.microsoft.com/office/drawing/2014/main" id="{1A6F2A19-4FD1-64D7-9734-2AC1EA23FA28}"/>
              </a:ext>
            </a:extLst>
          </p:cNvPr>
          <p:cNvSpPr/>
          <p:nvPr/>
        </p:nvSpPr>
        <p:spPr>
          <a:xfrm>
            <a:off x="6421295" y="3653155"/>
            <a:ext cx="1645920" cy="384048"/>
          </a:xfrm>
          <a:prstGeom prst="rect">
            <a:avLst/>
          </a:prstGeom>
          <a:solidFill>
            <a:srgbClr val="0096A7"/>
          </a:solidFill>
          <a:ln>
            <a:solidFill>
              <a:srgbClr val="0096A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水泵 / 电子锁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EE0D51C7-38F4-D8AE-4164-68E5B590FF8D}"/>
              </a:ext>
            </a:extLst>
          </p:cNvPr>
          <p:cNvSpPr/>
          <p:nvPr/>
        </p:nvSpPr>
        <p:spPr>
          <a:xfrm>
            <a:off x="8250095" y="3717163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MOS 管 / 继电器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AD897977-3243-0451-CF47-E0511849AC72}"/>
              </a:ext>
            </a:extLst>
          </p:cNvPr>
          <p:cNvSpPr/>
          <p:nvPr/>
        </p:nvSpPr>
        <p:spPr>
          <a:xfrm>
            <a:off x="10243487" y="3717163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大电流开关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8" name="Text 24">
            <a:extLst>
              <a:ext uri="{FF2B5EF4-FFF2-40B4-BE49-F238E27FC236}">
                <a16:creationId xmlns:a16="http://schemas.microsoft.com/office/drawing/2014/main" id="{CAFDB0DF-922B-2B52-5CD8-B6449CF3E797}"/>
              </a:ext>
            </a:extLst>
          </p:cNvPr>
          <p:cNvSpPr/>
          <p:nvPr/>
        </p:nvSpPr>
        <p:spPr>
          <a:xfrm>
            <a:off x="843455" y="4613275"/>
            <a:ext cx="1645920" cy="384048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舵机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50" name="Text 25">
            <a:extLst>
              <a:ext uri="{FF2B5EF4-FFF2-40B4-BE49-F238E27FC236}">
                <a16:creationId xmlns:a16="http://schemas.microsoft.com/office/drawing/2014/main" id="{E961EBFA-64CE-C841-8886-74D588C3E27E}"/>
              </a:ext>
            </a:extLst>
          </p:cNvPr>
          <p:cNvSpPr/>
          <p:nvPr/>
        </p:nvSpPr>
        <p:spPr>
          <a:xfrm>
            <a:off x="2672255" y="4677283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PWM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2" name="Text 26">
            <a:extLst>
              <a:ext uri="{FF2B5EF4-FFF2-40B4-BE49-F238E27FC236}">
                <a16:creationId xmlns:a16="http://schemas.microsoft.com/office/drawing/2014/main" id="{AB18058F-AF16-299E-F1C1-65BF39ACAA3A}"/>
              </a:ext>
            </a:extLst>
          </p:cNvPr>
          <p:cNvSpPr/>
          <p:nvPr/>
        </p:nvSpPr>
        <p:spPr>
          <a:xfrm>
            <a:off x="4665647" y="4677283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夹爪、云台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4" name="Text 27">
            <a:extLst>
              <a:ext uri="{FF2B5EF4-FFF2-40B4-BE49-F238E27FC236}">
                <a16:creationId xmlns:a16="http://schemas.microsoft.com/office/drawing/2014/main" id="{9D10E43F-DF1B-DBDE-E9E9-9282C38A3C85}"/>
              </a:ext>
            </a:extLst>
          </p:cNvPr>
          <p:cNvSpPr/>
          <p:nvPr/>
        </p:nvSpPr>
        <p:spPr>
          <a:xfrm>
            <a:off x="6421295" y="4613275"/>
            <a:ext cx="1645920" cy="384048"/>
          </a:xfrm>
          <a:prstGeom prst="rect">
            <a:avLst/>
          </a:prstGeom>
          <a:solidFill>
            <a:srgbClr val="0096A7"/>
          </a:solidFill>
          <a:ln>
            <a:solidFill>
              <a:srgbClr val="0096A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灯带 / 蜂鸣器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56" name="Text 28">
            <a:extLst>
              <a:ext uri="{FF2B5EF4-FFF2-40B4-BE49-F238E27FC236}">
                <a16:creationId xmlns:a16="http://schemas.microsoft.com/office/drawing/2014/main" id="{B8355C09-1D72-7A0F-9E11-AA22C90EE154}"/>
              </a:ext>
            </a:extLst>
          </p:cNvPr>
          <p:cNvSpPr/>
          <p:nvPr/>
        </p:nvSpPr>
        <p:spPr>
          <a:xfrm>
            <a:off x="8250095" y="4677283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GPIO / PWM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8" name="Text 29">
            <a:extLst>
              <a:ext uri="{FF2B5EF4-FFF2-40B4-BE49-F238E27FC236}">
                <a16:creationId xmlns:a16="http://schemas.microsoft.com/office/drawing/2014/main" id="{D0689A5D-601C-5DBB-A825-638EFD5D56F5}"/>
              </a:ext>
            </a:extLst>
          </p:cNvPr>
          <p:cNvSpPr/>
          <p:nvPr/>
        </p:nvSpPr>
        <p:spPr>
          <a:xfrm>
            <a:off x="10243487" y="4677283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状态提示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0" name="Text 30">
            <a:extLst>
              <a:ext uri="{FF2B5EF4-FFF2-40B4-BE49-F238E27FC236}">
                <a16:creationId xmlns:a16="http://schemas.microsoft.com/office/drawing/2014/main" id="{F312CB45-4CC9-F320-02A8-4D0E3BB4402B}"/>
              </a:ext>
            </a:extLst>
          </p:cNvPr>
          <p:cNvSpPr/>
          <p:nvPr/>
        </p:nvSpPr>
        <p:spPr>
          <a:xfrm>
            <a:off x="889175" y="5847715"/>
            <a:ext cx="5074920" cy="731520"/>
          </a:xfrm>
          <a:prstGeom prst="rect">
            <a:avLst/>
          </a:prstGeom>
          <a:solidFill>
            <a:srgbClr val="EAF4FF"/>
          </a:solidFill>
          <a:ln>
            <a:solidFill>
              <a:srgbClr val="A9CCFF"/>
            </a:solidFill>
          </a:ln>
        </p:spPr>
        <p:txBody>
          <a:bodyPr wrap="square" lIns="1778" tIns="1778" rIns="1778" bIns="1778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800" b="1" dirty="0"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控制组输出清单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每个外设都要写清：由谁控制、什么接口、供电多少、异常怎么办。</a:t>
            </a:r>
            <a:endParaRPr lang="en-US" sz="1800" dirty="0"/>
          </a:p>
        </p:txBody>
      </p:sp>
      <p:sp>
        <p:nvSpPr>
          <p:cNvPr id="62" name="Text 31">
            <a:extLst>
              <a:ext uri="{FF2B5EF4-FFF2-40B4-BE49-F238E27FC236}">
                <a16:creationId xmlns:a16="http://schemas.microsoft.com/office/drawing/2014/main" id="{FC57B1CF-1B02-9AE4-4E2A-B9F453AB1AF4}"/>
              </a:ext>
            </a:extLst>
          </p:cNvPr>
          <p:cNvSpPr/>
          <p:nvPr/>
        </p:nvSpPr>
        <p:spPr>
          <a:xfrm>
            <a:off x="6421295" y="5847715"/>
            <a:ext cx="5074920" cy="731520"/>
          </a:xfrm>
          <a:prstGeom prst="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txBody>
          <a:bodyPr wrap="square" lIns="1778" tIns="1778" rIns="1778" bIns="1778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800" b="1" dirty="0"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不要漏掉电源问题
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信号能接不代表能带动；水泵、电磁锁、舵机要单独核对电流和保护。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13499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9F7A4115-418F-F87C-F97E-D2C5A35EB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0E8B998D-1358-67BF-3122-4D67F8110CCE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 descr="GZ+SOCH White">
            <a:extLst>
              <a:ext uri="{FF2B5EF4-FFF2-40B4-BE49-F238E27FC236}">
                <a16:creationId xmlns:a16="http://schemas.microsoft.com/office/drawing/2014/main" id="{1B418E44-0ED1-F841-974F-B5F53A2355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624" r="31738"/>
          <a:stretch>
            <a:fillRect/>
          </a:stretch>
        </p:blipFill>
        <p:spPr>
          <a:xfrm>
            <a:off x="182880" y="270510"/>
            <a:ext cx="3330575" cy="53975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5561D4C-9B5A-160C-7E29-7D5D46C35C11}"/>
              </a:ext>
            </a:extLst>
          </p:cNvPr>
          <p:cNvSpPr txBox="1"/>
          <p:nvPr/>
        </p:nvSpPr>
        <p:spPr>
          <a:xfrm>
            <a:off x="8947785" y="270510"/>
            <a:ext cx="31134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 </a:t>
            </a:r>
            <a:r>
              <a:rPr lang="zh-CN" altLang="en-US" sz="2400">
                <a:solidFill>
                  <a:schemeClr val="bg1"/>
                </a:solidFill>
                <a:latin typeface="汉仪颜楷简" panose="00020600040101010101" charset="-122"/>
                <a:ea typeface="汉仪颜楷简" panose="00020600040101010101" charset="-122"/>
                <a:sym typeface="+mn-ea"/>
              </a:rPr>
              <a:t>以技造物，智联校园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F10A26-B19A-D49D-6487-C21268E2E6E6}"/>
              </a:ext>
            </a:extLst>
          </p:cNvPr>
          <p:cNvSpPr txBox="1"/>
          <p:nvPr/>
        </p:nvSpPr>
        <p:spPr>
          <a:xfrm>
            <a:off x="4833620" y="270510"/>
            <a:ext cx="2794000" cy="4889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Cyber 鲁班</a:t>
            </a: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 2</a:t>
            </a: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026         </a:t>
            </a:r>
            <a:endParaRPr lang="zh-CN" altLang="en-US" sz="2400">
              <a:solidFill>
                <a:schemeClr val="bg1"/>
              </a:solidFill>
              <a:latin typeface="汉仪颜楷简" panose="00020600040101010101" charset="-122"/>
              <a:ea typeface="汉仪颜楷简" panose="00020600040101010101" charset="-122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D11836A-0D36-89D5-DF15-12953D5C3F20}"/>
              </a:ext>
            </a:extLst>
          </p:cNvPr>
          <p:cNvSpPr/>
          <p:nvPr/>
        </p:nvSpPr>
        <p:spPr>
          <a:xfrm>
            <a:off x="508910" y="1275715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000" b="1" dirty="0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</a:t>
            </a:r>
            <a:r>
              <a:rPr lang="en-US" sz="3000" b="1" dirty="0" err="1">
                <a:solidFill>
                  <a:schemeClr val="bg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机械组、算法组怎么对齐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F2E28DE4-09E1-5CDB-3CE8-1A41ACDC16BD}"/>
              </a:ext>
            </a:extLst>
          </p:cNvPr>
          <p:cNvSpPr/>
          <p:nvPr/>
        </p:nvSpPr>
        <p:spPr>
          <a:xfrm>
            <a:off x="508910" y="1842643"/>
            <a:ext cx="1097280" cy="0"/>
          </a:xfrm>
          <a:prstGeom prst="line">
            <a:avLst/>
          </a:prstGeom>
          <a:noFill/>
          <a:ln w="12700">
            <a:solidFill>
              <a:schemeClr val="bg1"/>
            </a:solidFill>
            <a:prstDash val="solid"/>
          </a:ln>
        </p:spPr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B3EF65A2-0E79-B86A-60E2-236CA50CB167}"/>
              </a:ext>
            </a:extLst>
          </p:cNvPr>
          <p:cNvSpPr/>
          <p:nvPr/>
        </p:nvSpPr>
        <p:spPr>
          <a:xfrm>
            <a:off x="865526" y="2190115"/>
            <a:ext cx="3474720" cy="2926080"/>
          </a:xfrm>
          <a:prstGeom prst="rect">
            <a:avLst/>
          </a:prstGeom>
          <a:solidFill>
            <a:srgbClr val="F8FCFF"/>
          </a:solidFill>
          <a:ln>
            <a:solidFill>
              <a:srgbClr val="A9CC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0B3D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控制组问机械组
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控制板放哪里？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线束怎么走？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电池和电源模块空间够不够？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急停按钮是否一手可按？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水泵/夹爪等外设是否便于维护？</a:t>
            </a:r>
            <a:endParaRPr lang="en-US" sz="17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3C54DC66-26CD-8CA2-5CA1-11998607E4E6}"/>
              </a:ext>
            </a:extLst>
          </p:cNvPr>
          <p:cNvSpPr/>
          <p:nvPr/>
        </p:nvSpPr>
        <p:spPr>
          <a:xfrm>
            <a:off x="4459118" y="2190115"/>
            <a:ext cx="3474720" cy="2926080"/>
          </a:xfrm>
          <a:prstGeom prst="rect">
            <a:avLst/>
          </a:prstGeom>
          <a:solidFill>
            <a:srgbClr val="F8FCFF"/>
          </a:solidFill>
          <a:ln>
            <a:solidFill>
              <a:srgbClr val="A9CC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0B3D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控制组给算法组
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/cmd_vel 是否可用？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最大线速度/角速度是多少？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是否有 /odom 或轮速反馈？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异常时如何停车？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支持哪些外设动作？</a:t>
            </a:r>
            <a:endParaRPr lang="en-US" sz="17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95C946C5-2719-B67B-FDF9-274EA93FD876}"/>
              </a:ext>
            </a:extLst>
          </p:cNvPr>
          <p:cNvSpPr/>
          <p:nvPr/>
        </p:nvSpPr>
        <p:spPr>
          <a:xfrm>
            <a:off x="8061854" y="2190115"/>
            <a:ext cx="3474720" cy="2926080"/>
          </a:xfrm>
          <a:prstGeom prst="rect">
            <a:avLst/>
          </a:prstGeom>
          <a:solidFill>
            <a:srgbClr val="F8FCFF"/>
          </a:solidFill>
          <a:ln>
            <a:solidFill>
              <a:srgbClr val="A9CC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0B3D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控制组要算法组明确
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输出速度还是目标点？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任务状态有哪些？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什么时候启动外设动作？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找不到目标怎么办？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定位丢失是否停车？</a:t>
            </a:r>
            <a:endParaRPr lang="en-US" sz="17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ED9EF56C-45F5-8B4B-FE85-6D45F7C25E63}"/>
              </a:ext>
            </a:extLst>
          </p:cNvPr>
          <p:cNvSpPr/>
          <p:nvPr/>
        </p:nvSpPr>
        <p:spPr>
          <a:xfrm>
            <a:off x="865526" y="5756275"/>
            <a:ext cx="10671048" cy="658368"/>
          </a:xfrm>
          <a:prstGeom prst="rect">
            <a:avLst/>
          </a:prstGeom>
          <a:solidFill>
            <a:srgbClr val="EAF4FF"/>
          </a:solidFill>
          <a:ln>
            <a:solidFill>
              <a:srgbClr val="A9CC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200" dirty="0" err="1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机械组提供安装边界，算法组提供控制需求，控制组把需求变成安全可执行的动作</a:t>
            </a:r>
            <a:r>
              <a:rPr lang="en-US" sz="22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286457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558B58B0-F786-23CA-2CF5-65162A795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DF7F8625-0472-EFFB-D429-3190B8D57BC7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0A231BCC-D276-B033-B265-27C26F422B30}"/>
              </a:ext>
            </a:extLst>
          </p:cNvPr>
          <p:cNvSpPr txBox="1"/>
          <p:nvPr/>
        </p:nvSpPr>
        <p:spPr>
          <a:xfrm>
            <a:off x="1127125" y="2834903"/>
            <a:ext cx="99377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600" b="1" i="0" u="none" strike="noStrike" cap="none" dirty="0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答疑时间</a:t>
            </a:r>
            <a:endParaRPr lang="en-US" altLang="zh-CN" sz="6600" b="1" i="0" u="none" strike="noStrike" cap="none" dirty="0">
              <a:solidFill>
                <a:srgbClr val="F8FAF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3" name="图片 2" descr="GZ+SOCH White">
            <a:extLst>
              <a:ext uri="{FF2B5EF4-FFF2-40B4-BE49-F238E27FC236}">
                <a16:creationId xmlns:a16="http://schemas.microsoft.com/office/drawing/2014/main" id="{BD2D837B-0AA3-6044-8D8C-FC749D9029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624" r="31738"/>
          <a:stretch>
            <a:fillRect/>
          </a:stretch>
        </p:blipFill>
        <p:spPr>
          <a:xfrm>
            <a:off x="182880" y="270510"/>
            <a:ext cx="3330575" cy="53975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9CA9100-842F-3586-125B-33F34A12B9EB}"/>
              </a:ext>
            </a:extLst>
          </p:cNvPr>
          <p:cNvSpPr txBox="1"/>
          <p:nvPr/>
        </p:nvSpPr>
        <p:spPr>
          <a:xfrm>
            <a:off x="8947785" y="270510"/>
            <a:ext cx="31134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 </a:t>
            </a:r>
            <a:r>
              <a:rPr lang="zh-CN" altLang="en-US" sz="2400">
                <a:solidFill>
                  <a:schemeClr val="bg1"/>
                </a:solidFill>
                <a:latin typeface="汉仪颜楷简" panose="00020600040101010101" charset="-122"/>
                <a:ea typeface="汉仪颜楷简" panose="00020600040101010101" charset="-122"/>
                <a:sym typeface="+mn-ea"/>
              </a:rPr>
              <a:t>以技造物，智联校园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751A33-9E7E-3062-6CFC-327EF3BC5DCF}"/>
              </a:ext>
            </a:extLst>
          </p:cNvPr>
          <p:cNvSpPr txBox="1"/>
          <p:nvPr/>
        </p:nvSpPr>
        <p:spPr>
          <a:xfrm>
            <a:off x="4833620" y="270510"/>
            <a:ext cx="2794000" cy="4889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Cyber 鲁班</a:t>
            </a: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 2</a:t>
            </a: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026         </a:t>
            </a:r>
            <a:endParaRPr lang="zh-CN" altLang="en-US" sz="2400">
              <a:solidFill>
                <a:schemeClr val="bg1"/>
              </a:solidFill>
              <a:latin typeface="汉仪颜楷简" panose="00020600040101010101" charset="-122"/>
              <a:ea typeface="汉仪颜楷简" panose="0002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87388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8572DE6A-287D-D24D-E4B9-A4DD3A905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932E4014-23C0-2A6B-3CAD-41A5FC4DE691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AC8CDBE6-5A40-E694-2E0D-DFB12377CE57}"/>
              </a:ext>
            </a:extLst>
          </p:cNvPr>
          <p:cNvSpPr txBox="1"/>
          <p:nvPr/>
        </p:nvSpPr>
        <p:spPr>
          <a:xfrm>
            <a:off x="1000125" y="2141220"/>
            <a:ext cx="9937750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6000" b="1" i="0" u="none" strike="noStrike" cap="none" dirty="0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算法组培训</a:t>
            </a:r>
            <a:endParaRPr lang="en-US" altLang="zh-CN" sz="6000" b="1" i="0" u="none" strike="noStrike" cap="none" dirty="0">
              <a:solidFill>
                <a:srgbClr val="F8FAF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4000" b="1" i="0" u="none" strike="noStrike" cap="none" dirty="0">
              <a:solidFill>
                <a:srgbClr val="F8FAF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dirty="0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2026-6-16</a:t>
            </a:r>
            <a:endParaRPr lang="en-US" altLang="zh-CN" sz="4000" b="1" i="0" u="none" strike="noStrike" cap="none" dirty="0">
              <a:solidFill>
                <a:srgbClr val="F8FAF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3" name="图片 2" descr="GZ+SOCH White">
            <a:extLst>
              <a:ext uri="{FF2B5EF4-FFF2-40B4-BE49-F238E27FC236}">
                <a16:creationId xmlns:a16="http://schemas.microsoft.com/office/drawing/2014/main" id="{58210455-B557-98F7-E40F-740CBC981F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624" r="31738"/>
          <a:stretch>
            <a:fillRect/>
          </a:stretch>
        </p:blipFill>
        <p:spPr>
          <a:xfrm>
            <a:off x="182880" y="270510"/>
            <a:ext cx="3330575" cy="53975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7C717E3-8A93-B7F9-3B38-C81880EA3D52}"/>
              </a:ext>
            </a:extLst>
          </p:cNvPr>
          <p:cNvSpPr txBox="1"/>
          <p:nvPr/>
        </p:nvSpPr>
        <p:spPr>
          <a:xfrm>
            <a:off x="8947785" y="270510"/>
            <a:ext cx="31134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 </a:t>
            </a:r>
            <a:r>
              <a:rPr lang="zh-CN" altLang="en-US" sz="2400">
                <a:solidFill>
                  <a:schemeClr val="bg1"/>
                </a:solidFill>
                <a:latin typeface="汉仪颜楷简" panose="00020600040101010101" charset="-122"/>
                <a:ea typeface="汉仪颜楷简" panose="00020600040101010101" charset="-122"/>
                <a:sym typeface="+mn-ea"/>
              </a:rPr>
              <a:t>以技造物，智联校园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28FD1F-18EA-00FB-CB72-D77F7B775D1B}"/>
              </a:ext>
            </a:extLst>
          </p:cNvPr>
          <p:cNvSpPr txBox="1"/>
          <p:nvPr/>
        </p:nvSpPr>
        <p:spPr>
          <a:xfrm>
            <a:off x="4833620" y="270510"/>
            <a:ext cx="2794000" cy="4889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Cyber 鲁班</a:t>
            </a: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 2</a:t>
            </a: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026         </a:t>
            </a:r>
            <a:endParaRPr lang="zh-CN" altLang="en-US" sz="2400">
              <a:solidFill>
                <a:schemeClr val="bg1"/>
              </a:solidFill>
              <a:latin typeface="汉仪颜楷简" panose="00020600040101010101" charset="-122"/>
              <a:ea typeface="汉仪颜楷简" panose="0002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6795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CC40605D-061A-5CBE-E751-A3B7009E0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FF262130-80C6-F1F8-2547-8E7D9A8213CA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 descr="GZ+SOCH White">
            <a:extLst>
              <a:ext uri="{FF2B5EF4-FFF2-40B4-BE49-F238E27FC236}">
                <a16:creationId xmlns:a16="http://schemas.microsoft.com/office/drawing/2014/main" id="{EFFC4195-B80B-2C4D-62A0-5E5B1F3122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624" r="31738"/>
          <a:stretch>
            <a:fillRect/>
          </a:stretch>
        </p:blipFill>
        <p:spPr>
          <a:xfrm>
            <a:off x="182880" y="270510"/>
            <a:ext cx="3330575" cy="53975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93448EC-CC62-A9A4-D93F-F299E381E80B}"/>
              </a:ext>
            </a:extLst>
          </p:cNvPr>
          <p:cNvSpPr txBox="1"/>
          <p:nvPr/>
        </p:nvSpPr>
        <p:spPr>
          <a:xfrm>
            <a:off x="8947785" y="270510"/>
            <a:ext cx="31134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 </a:t>
            </a:r>
            <a:r>
              <a:rPr lang="zh-CN" altLang="en-US" sz="2400">
                <a:solidFill>
                  <a:schemeClr val="bg1"/>
                </a:solidFill>
                <a:latin typeface="汉仪颜楷简" panose="00020600040101010101" charset="-122"/>
                <a:ea typeface="汉仪颜楷简" panose="00020600040101010101" charset="-122"/>
                <a:sym typeface="+mn-ea"/>
              </a:rPr>
              <a:t>以技造物，智联校园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086B785-8900-B5D3-303E-FAB0A4D403A4}"/>
              </a:ext>
            </a:extLst>
          </p:cNvPr>
          <p:cNvSpPr txBox="1"/>
          <p:nvPr/>
        </p:nvSpPr>
        <p:spPr>
          <a:xfrm>
            <a:off x="4833620" y="270510"/>
            <a:ext cx="2794000" cy="4889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Cyber 鲁班</a:t>
            </a: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 2</a:t>
            </a: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026         </a:t>
            </a:r>
            <a:endParaRPr lang="zh-CN" altLang="en-US" sz="2400">
              <a:solidFill>
                <a:schemeClr val="bg1"/>
              </a:solidFill>
              <a:latin typeface="汉仪颜楷简" panose="00020600040101010101" charset="-122"/>
              <a:ea typeface="汉仪颜楷简" panose="00020600040101010101" charset="-122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80002C1B-FBB4-C0AA-6DC6-8F8905EA7E23}"/>
              </a:ext>
            </a:extLst>
          </p:cNvPr>
          <p:cNvSpPr txBox="1"/>
          <p:nvPr/>
        </p:nvSpPr>
        <p:spPr>
          <a:xfrm>
            <a:off x="903287" y="1001395"/>
            <a:ext cx="9601200" cy="64008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2600" b="1" dirty="0" err="1">
                <a:solidFill>
                  <a:schemeClr val="bg1"/>
                </a:solidFill>
                <a:latin typeface="Microsoft YaHei"/>
              </a:rPr>
              <a:t>CampusCar</a:t>
            </a:r>
            <a:r>
              <a:rPr sz="2600" b="1" dirty="0">
                <a:solidFill>
                  <a:schemeClr val="bg1"/>
                </a:solidFill>
                <a:latin typeface="Microsoft YaHei"/>
              </a:rPr>
              <a:t> </a:t>
            </a:r>
            <a:r>
              <a:rPr sz="2600" b="1" dirty="0" err="1">
                <a:solidFill>
                  <a:schemeClr val="bg1"/>
                </a:solidFill>
                <a:latin typeface="Microsoft YaHei"/>
              </a:rPr>
              <a:t>中算法组接触到哪些数据</a:t>
            </a:r>
            <a:r>
              <a:rPr sz="2600" b="1" dirty="0">
                <a:solidFill>
                  <a:schemeClr val="bg1"/>
                </a:solidFill>
                <a:latin typeface="Microsoft YaHei"/>
              </a:rPr>
              <a:t>？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E47BE50B-CA7A-84F5-D4B4-069DABD86D97}"/>
              </a:ext>
            </a:extLst>
          </p:cNvPr>
          <p:cNvSpPr txBox="1"/>
          <p:nvPr/>
        </p:nvSpPr>
        <p:spPr>
          <a:xfrm>
            <a:off x="903287" y="1591183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 dirty="0" err="1">
                <a:solidFill>
                  <a:srgbClr val="14969B"/>
                </a:solidFill>
                <a:latin typeface="Microsoft YaHei"/>
              </a:rPr>
              <a:t>先知道数据从哪里来，才能谈算法怎么做</a:t>
            </a:r>
            <a:endParaRPr sz="1350" b="1" dirty="0">
              <a:solidFill>
                <a:srgbClr val="14969B"/>
              </a:solidFill>
              <a:latin typeface="Microsoft YaHei"/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F63D818-8346-5DF9-E12A-4E0429BF7394}"/>
              </a:ext>
            </a:extLst>
          </p:cNvPr>
          <p:cNvSpPr/>
          <p:nvPr/>
        </p:nvSpPr>
        <p:spPr>
          <a:xfrm>
            <a:off x="973521" y="1941830"/>
            <a:ext cx="960120" cy="45719"/>
          </a:xfrm>
          <a:prstGeom prst="rect">
            <a:avLst/>
          </a:prstGeom>
          <a:solidFill>
            <a:srgbClr val="124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A4BFC9FD-46A0-35FB-5FE5-E53770B4AE07}"/>
              </a:ext>
            </a:extLst>
          </p:cNvPr>
          <p:cNvSpPr/>
          <p:nvPr/>
        </p:nvSpPr>
        <p:spPr>
          <a:xfrm>
            <a:off x="904941" y="2299843"/>
            <a:ext cx="2057400" cy="658368"/>
          </a:xfrm>
          <a:prstGeom prst="roundRect">
            <a:avLst/>
          </a:prstGeom>
          <a:solidFill>
            <a:srgbClr val="FAFCFF"/>
          </a:solidFill>
          <a:ln w="22860">
            <a:solidFill>
              <a:srgbClr val="14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>
                <a:solidFill>
                  <a:srgbClr val="14969B"/>
                </a:solidFill>
                <a:latin typeface="Microsoft YaHei"/>
              </a:rPr>
              <a:t>RTK / GPS</a:t>
            </a:r>
          </a:p>
          <a:p>
            <a:pPr algn="ctr"/>
            <a:r>
              <a:rPr sz="1100">
                <a:solidFill>
                  <a:srgbClr val="262D37"/>
                </a:solidFill>
                <a:latin typeface="Microsoft YaHei"/>
              </a:rPr>
              <a:t>/fix</a:t>
            </a:r>
          </a:p>
        </p:txBody>
      </p:sp>
      <p:cxnSp>
        <p:nvCxnSpPr>
          <p:cNvPr id="9" name="Connector 11">
            <a:extLst>
              <a:ext uri="{FF2B5EF4-FFF2-40B4-BE49-F238E27FC236}">
                <a16:creationId xmlns:a16="http://schemas.microsoft.com/office/drawing/2014/main" id="{A4AE4FF7-CDF2-4C18-DC5A-BF6D93008DC7}"/>
              </a:ext>
            </a:extLst>
          </p:cNvPr>
          <p:cNvCxnSpPr/>
          <p:nvPr/>
        </p:nvCxnSpPr>
        <p:spPr>
          <a:xfrm>
            <a:off x="2962341" y="2629027"/>
            <a:ext cx="960120" cy="1271016"/>
          </a:xfrm>
          <a:prstGeom prst="line">
            <a:avLst/>
          </a:prstGeom>
          <a:ln w="27940">
            <a:solidFill>
              <a:srgbClr val="1496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12">
            <a:extLst>
              <a:ext uri="{FF2B5EF4-FFF2-40B4-BE49-F238E27FC236}">
                <a16:creationId xmlns:a16="http://schemas.microsoft.com/office/drawing/2014/main" id="{7783422B-5155-9BDA-5E66-248801739302}"/>
              </a:ext>
            </a:extLst>
          </p:cNvPr>
          <p:cNvSpPr/>
          <p:nvPr/>
        </p:nvSpPr>
        <p:spPr>
          <a:xfrm>
            <a:off x="904941" y="3259963"/>
            <a:ext cx="2057400" cy="658368"/>
          </a:xfrm>
          <a:prstGeom prst="roundRect">
            <a:avLst/>
          </a:prstGeom>
          <a:solidFill>
            <a:srgbClr val="FAFCFF"/>
          </a:solidFill>
          <a:ln w="22860">
            <a:solidFill>
              <a:srgbClr val="23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>
                <a:solidFill>
                  <a:srgbClr val="23965F"/>
                </a:solidFill>
                <a:latin typeface="Microsoft YaHei"/>
              </a:rPr>
              <a:t>相机</a:t>
            </a:r>
          </a:p>
          <a:p>
            <a:pPr algn="ctr"/>
            <a:r>
              <a:rPr sz="1100">
                <a:solidFill>
                  <a:srgbClr val="262D37"/>
                </a:solidFill>
                <a:latin typeface="Microsoft YaHei"/>
              </a:rPr>
              <a:t>/camera/color/image_raw</a:t>
            </a:r>
          </a:p>
        </p:txBody>
      </p:sp>
      <p:cxnSp>
        <p:nvCxnSpPr>
          <p:cNvPr id="11" name="Connector 13">
            <a:extLst>
              <a:ext uri="{FF2B5EF4-FFF2-40B4-BE49-F238E27FC236}">
                <a16:creationId xmlns:a16="http://schemas.microsoft.com/office/drawing/2014/main" id="{D70AD93B-54C5-4A48-2C3E-376E5997298E}"/>
              </a:ext>
            </a:extLst>
          </p:cNvPr>
          <p:cNvCxnSpPr/>
          <p:nvPr/>
        </p:nvCxnSpPr>
        <p:spPr>
          <a:xfrm>
            <a:off x="2962341" y="3589147"/>
            <a:ext cx="960120" cy="310896"/>
          </a:xfrm>
          <a:prstGeom prst="line">
            <a:avLst/>
          </a:prstGeom>
          <a:ln w="27940">
            <a:solidFill>
              <a:srgbClr val="239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4">
            <a:extLst>
              <a:ext uri="{FF2B5EF4-FFF2-40B4-BE49-F238E27FC236}">
                <a16:creationId xmlns:a16="http://schemas.microsoft.com/office/drawing/2014/main" id="{56FCC3C6-1259-3600-B13E-4350268F681F}"/>
              </a:ext>
            </a:extLst>
          </p:cNvPr>
          <p:cNvSpPr/>
          <p:nvPr/>
        </p:nvSpPr>
        <p:spPr>
          <a:xfrm>
            <a:off x="904941" y="4220083"/>
            <a:ext cx="2057400" cy="658368"/>
          </a:xfrm>
          <a:prstGeom prst="roundRect">
            <a:avLst/>
          </a:prstGeom>
          <a:solidFill>
            <a:srgbClr val="FAFCFF"/>
          </a:solidFill>
          <a:ln w="2286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>
                <a:solidFill>
                  <a:srgbClr val="124CA3"/>
                </a:solidFill>
                <a:latin typeface="Microsoft YaHei"/>
              </a:rPr>
              <a:t>UE5 指令</a:t>
            </a:r>
          </a:p>
          <a:p>
            <a:pPr algn="ctr"/>
            <a:r>
              <a:rPr sz="1100">
                <a:solidFill>
                  <a:srgbClr val="262D37"/>
                </a:solidFill>
                <a:latin typeface="Microsoft YaHei"/>
              </a:rPr>
              <a:t>/U2RTopic_Command</a:t>
            </a:r>
          </a:p>
        </p:txBody>
      </p:sp>
      <p:cxnSp>
        <p:nvCxnSpPr>
          <p:cNvPr id="13" name="Connector 15">
            <a:extLst>
              <a:ext uri="{FF2B5EF4-FFF2-40B4-BE49-F238E27FC236}">
                <a16:creationId xmlns:a16="http://schemas.microsoft.com/office/drawing/2014/main" id="{F754B985-2CA3-9D38-D9D9-95348100ECBF}"/>
              </a:ext>
            </a:extLst>
          </p:cNvPr>
          <p:cNvCxnSpPr/>
          <p:nvPr/>
        </p:nvCxnSpPr>
        <p:spPr>
          <a:xfrm flipV="1">
            <a:off x="2962341" y="3900043"/>
            <a:ext cx="960120" cy="649224"/>
          </a:xfrm>
          <a:prstGeom prst="line">
            <a:avLst/>
          </a:prstGeom>
          <a:ln w="27940">
            <a:solidFill>
              <a:srgbClr val="124C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6">
            <a:extLst>
              <a:ext uri="{FF2B5EF4-FFF2-40B4-BE49-F238E27FC236}">
                <a16:creationId xmlns:a16="http://schemas.microsoft.com/office/drawing/2014/main" id="{130F3202-6DB9-1514-1AC6-949F1B92D2E5}"/>
              </a:ext>
            </a:extLst>
          </p:cNvPr>
          <p:cNvSpPr/>
          <p:nvPr/>
        </p:nvSpPr>
        <p:spPr>
          <a:xfrm>
            <a:off x="904941" y="5180203"/>
            <a:ext cx="2057400" cy="658368"/>
          </a:xfrm>
          <a:prstGeom prst="roundRect">
            <a:avLst/>
          </a:prstGeom>
          <a:solidFill>
            <a:srgbClr val="FAFCFF"/>
          </a:solidFill>
          <a:ln w="22860">
            <a:solidFill>
              <a:srgbClr val="785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>
                <a:solidFill>
                  <a:srgbClr val="785AD2"/>
                </a:solidFill>
                <a:latin typeface="Microsoft YaHei"/>
              </a:rPr>
              <a:t>里程计/IMU</a:t>
            </a:r>
          </a:p>
          <a:p>
            <a:pPr algn="ctr"/>
            <a:r>
              <a:rPr sz="1100">
                <a:solidFill>
                  <a:srgbClr val="262D37"/>
                </a:solidFill>
                <a:latin typeface="Microsoft YaHei"/>
              </a:rPr>
              <a:t>/odom / imu</a:t>
            </a:r>
          </a:p>
        </p:txBody>
      </p:sp>
      <p:cxnSp>
        <p:nvCxnSpPr>
          <p:cNvPr id="15" name="Connector 17">
            <a:extLst>
              <a:ext uri="{FF2B5EF4-FFF2-40B4-BE49-F238E27FC236}">
                <a16:creationId xmlns:a16="http://schemas.microsoft.com/office/drawing/2014/main" id="{D6DF9E41-A29C-33B3-F414-2FFA98BD0CD4}"/>
              </a:ext>
            </a:extLst>
          </p:cNvPr>
          <p:cNvCxnSpPr/>
          <p:nvPr/>
        </p:nvCxnSpPr>
        <p:spPr>
          <a:xfrm flipV="1">
            <a:off x="2962341" y="3900043"/>
            <a:ext cx="960120" cy="1609344"/>
          </a:xfrm>
          <a:prstGeom prst="line">
            <a:avLst/>
          </a:prstGeom>
          <a:ln w="27940">
            <a:solidFill>
              <a:srgbClr val="785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8">
            <a:extLst>
              <a:ext uri="{FF2B5EF4-FFF2-40B4-BE49-F238E27FC236}">
                <a16:creationId xmlns:a16="http://schemas.microsoft.com/office/drawing/2014/main" id="{6BA81DA5-83CD-3CEF-3117-AFF81EF05D90}"/>
              </a:ext>
            </a:extLst>
          </p:cNvPr>
          <p:cNvSpPr/>
          <p:nvPr/>
        </p:nvSpPr>
        <p:spPr>
          <a:xfrm>
            <a:off x="3968181" y="3351403"/>
            <a:ext cx="2377440" cy="1143000"/>
          </a:xfrm>
          <a:prstGeom prst="roundRect">
            <a:avLst/>
          </a:prstGeom>
          <a:solidFill>
            <a:srgbClr val="FAFCFF"/>
          </a:solidFill>
          <a:ln w="2286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>
                <a:solidFill>
                  <a:srgbClr val="124CA3"/>
                </a:solidFill>
                <a:latin typeface="Microsoft YaHei"/>
              </a:rPr>
              <a:t>算法节点</a:t>
            </a:r>
          </a:p>
          <a:p>
            <a:pPr algn="ctr"/>
            <a:r>
              <a:rPr sz="1100">
                <a:solidFill>
                  <a:srgbClr val="262D37"/>
                </a:solidFill>
                <a:latin typeface="Microsoft YaHei"/>
              </a:rPr>
              <a:t>定位 / 感知 / 决策 / 状态机</a:t>
            </a:r>
          </a:p>
        </p:txBody>
      </p:sp>
      <p:cxnSp>
        <p:nvCxnSpPr>
          <p:cNvPr id="17" name="Connector 19">
            <a:extLst>
              <a:ext uri="{FF2B5EF4-FFF2-40B4-BE49-F238E27FC236}">
                <a16:creationId xmlns:a16="http://schemas.microsoft.com/office/drawing/2014/main" id="{80E4F89E-7DAF-9547-3354-7BEE134E1331}"/>
              </a:ext>
            </a:extLst>
          </p:cNvPr>
          <p:cNvCxnSpPr/>
          <p:nvPr/>
        </p:nvCxnSpPr>
        <p:spPr>
          <a:xfrm flipV="1">
            <a:off x="6345621" y="2949067"/>
            <a:ext cx="1234440" cy="950976"/>
          </a:xfrm>
          <a:prstGeom prst="line">
            <a:avLst/>
          </a:prstGeom>
          <a:ln w="27940">
            <a:solidFill>
              <a:srgbClr val="124C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20">
            <a:extLst>
              <a:ext uri="{FF2B5EF4-FFF2-40B4-BE49-F238E27FC236}">
                <a16:creationId xmlns:a16="http://schemas.microsoft.com/office/drawing/2014/main" id="{83B682BA-DE4E-D59E-C8D4-C02853056860}"/>
              </a:ext>
            </a:extLst>
          </p:cNvPr>
          <p:cNvSpPr/>
          <p:nvPr/>
        </p:nvSpPr>
        <p:spPr>
          <a:xfrm>
            <a:off x="7580061" y="2619883"/>
            <a:ext cx="2743200" cy="658368"/>
          </a:xfrm>
          <a:prstGeom prst="roundRect">
            <a:avLst/>
          </a:prstGeom>
          <a:solidFill>
            <a:srgbClr val="FAFCFF"/>
          </a:solidFill>
          <a:ln w="2286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>
                <a:solidFill>
                  <a:srgbClr val="124CA3"/>
                </a:solidFill>
                <a:latin typeface="Microsoft YaHei"/>
              </a:rPr>
              <a:t>/cmd_vel</a:t>
            </a:r>
          </a:p>
          <a:p>
            <a:pPr algn="ctr"/>
            <a:r>
              <a:rPr sz="1100">
                <a:solidFill>
                  <a:srgbClr val="262D37"/>
                </a:solidFill>
                <a:latin typeface="Microsoft YaHei"/>
              </a:rPr>
              <a:t>给控制组</a:t>
            </a:r>
          </a:p>
        </p:txBody>
      </p:sp>
      <p:cxnSp>
        <p:nvCxnSpPr>
          <p:cNvPr id="19" name="Connector 21">
            <a:extLst>
              <a:ext uri="{FF2B5EF4-FFF2-40B4-BE49-F238E27FC236}">
                <a16:creationId xmlns:a16="http://schemas.microsoft.com/office/drawing/2014/main" id="{4E490C80-7350-0797-738E-62F8B0C73FFE}"/>
              </a:ext>
            </a:extLst>
          </p:cNvPr>
          <p:cNvCxnSpPr/>
          <p:nvPr/>
        </p:nvCxnSpPr>
        <p:spPr>
          <a:xfrm>
            <a:off x="6345621" y="3900043"/>
            <a:ext cx="1234440" cy="54863"/>
          </a:xfrm>
          <a:prstGeom prst="line">
            <a:avLst/>
          </a:prstGeom>
          <a:ln w="27940">
            <a:solidFill>
              <a:srgbClr val="1496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22">
            <a:extLst>
              <a:ext uri="{FF2B5EF4-FFF2-40B4-BE49-F238E27FC236}">
                <a16:creationId xmlns:a16="http://schemas.microsoft.com/office/drawing/2014/main" id="{3197CB8B-C734-B9C8-454C-5BFEB0E60D60}"/>
              </a:ext>
            </a:extLst>
          </p:cNvPr>
          <p:cNvSpPr/>
          <p:nvPr/>
        </p:nvSpPr>
        <p:spPr>
          <a:xfrm>
            <a:off x="7580061" y="3625723"/>
            <a:ext cx="2743200" cy="658368"/>
          </a:xfrm>
          <a:prstGeom prst="roundRect">
            <a:avLst/>
          </a:prstGeom>
          <a:solidFill>
            <a:srgbClr val="FAFCFF"/>
          </a:solidFill>
          <a:ln w="22860">
            <a:solidFill>
              <a:srgbClr val="14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>
                <a:solidFill>
                  <a:srgbClr val="14969B"/>
                </a:solidFill>
                <a:latin typeface="Microsoft YaHei"/>
              </a:rPr>
              <a:t>/R2UTopic_Pos</a:t>
            </a:r>
          </a:p>
          <a:p>
            <a:pPr algn="ctr"/>
            <a:r>
              <a:rPr sz="1100">
                <a:solidFill>
                  <a:srgbClr val="262D37"/>
                </a:solidFill>
                <a:latin typeface="Microsoft YaHei"/>
              </a:rPr>
              <a:t>给 UE5 / 校园大脑</a:t>
            </a:r>
          </a:p>
        </p:txBody>
      </p:sp>
      <p:cxnSp>
        <p:nvCxnSpPr>
          <p:cNvPr id="21" name="Connector 23">
            <a:extLst>
              <a:ext uri="{FF2B5EF4-FFF2-40B4-BE49-F238E27FC236}">
                <a16:creationId xmlns:a16="http://schemas.microsoft.com/office/drawing/2014/main" id="{29B04594-4E81-752F-7FA9-177264D65237}"/>
              </a:ext>
            </a:extLst>
          </p:cNvPr>
          <p:cNvCxnSpPr/>
          <p:nvPr/>
        </p:nvCxnSpPr>
        <p:spPr>
          <a:xfrm>
            <a:off x="6345621" y="3900043"/>
            <a:ext cx="1234440" cy="1060704"/>
          </a:xfrm>
          <a:prstGeom prst="line">
            <a:avLst/>
          </a:prstGeom>
          <a:ln w="27940">
            <a:solidFill>
              <a:srgbClr val="239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4">
            <a:extLst>
              <a:ext uri="{FF2B5EF4-FFF2-40B4-BE49-F238E27FC236}">
                <a16:creationId xmlns:a16="http://schemas.microsoft.com/office/drawing/2014/main" id="{6F6B5814-B180-A8D9-D7A6-EE5ADF9565B4}"/>
              </a:ext>
            </a:extLst>
          </p:cNvPr>
          <p:cNvSpPr/>
          <p:nvPr/>
        </p:nvSpPr>
        <p:spPr>
          <a:xfrm>
            <a:off x="7580061" y="4631563"/>
            <a:ext cx="2743200" cy="658368"/>
          </a:xfrm>
          <a:prstGeom prst="roundRect">
            <a:avLst/>
          </a:prstGeom>
          <a:solidFill>
            <a:srgbClr val="FAFCFF"/>
          </a:solidFill>
          <a:ln w="22860">
            <a:solidFill>
              <a:srgbClr val="23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>
                <a:solidFill>
                  <a:srgbClr val="23965F"/>
                </a:solidFill>
                <a:latin typeface="Microsoft YaHei"/>
              </a:rPr>
              <a:t>JSON / CSV / 图片</a:t>
            </a:r>
          </a:p>
          <a:p>
            <a:pPr algn="ctr"/>
            <a:r>
              <a:rPr sz="1100">
                <a:solidFill>
                  <a:srgbClr val="262D37"/>
                </a:solidFill>
                <a:latin typeface="Microsoft YaHei"/>
              </a:rPr>
              <a:t>给日志与平台</a:t>
            </a:r>
          </a:p>
        </p:txBody>
      </p:sp>
      <p:sp>
        <p:nvSpPr>
          <p:cNvPr id="23" name="Rounded Rectangle 25">
            <a:extLst>
              <a:ext uri="{FF2B5EF4-FFF2-40B4-BE49-F238E27FC236}">
                <a16:creationId xmlns:a16="http://schemas.microsoft.com/office/drawing/2014/main" id="{A3AA191C-95E7-EEA8-45F3-BB43F3414D20}"/>
              </a:ext>
            </a:extLst>
          </p:cNvPr>
          <p:cNvSpPr/>
          <p:nvPr/>
        </p:nvSpPr>
        <p:spPr>
          <a:xfrm>
            <a:off x="8723061" y="5774563"/>
            <a:ext cx="2971800" cy="777240"/>
          </a:xfrm>
          <a:prstGeom prst="roundRect">
            <a:avLst/>
          </a:prstGeom>
          <a:solidFill>
            <a:srgbClr val="FFF8EB"/>
          </a:solidFill>
          <a:ln w="15240">
            <a:solidFill>
              <a:srgbClr val="E68F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 fontScale="92500" lnSpcReduction="20000"/>
          </a:bodyPr>
          <a:lstStyle/>
          <a:p>
            <a:pPr algn="l"/>
            <a:r>
              <a:rPr sz="1550" b="0" dirty="0" err="1">
                <a:solidFill>
                  <a:srgbClr val="262D37"/>
                </a:solidFill>
                <a:latin typeface="Microsoft YaHei"/>
              </a:rPr>
              <a:t>关键要求</a:t>
            </a:r>
            <a:r>
              <a:rPr sz="1550" b="0" dirty="0">
                <a:solidFill>
                  <a:srgbClr val="262D37"/>
                </a:solidFill>
                <a:latin typeface="Microsoft YaHei"/>
              </a:rPr>
              <a:t>：</a:t>
            </a:r>
          </a:p>
          <a:p>
            <a:pPr algn="l"/>
            <a:r>
              <a:rPr sz="1550" b="0" dirty="0" err="1">
                <a:solidFill>
                  <a:srgbClr val="262D37"/>
                </a:solidFill>
                <a:latin typeface="Microsoft YaHei"/>
              </a:rPr>
              <a:t>所有输出都要格式稳定，失败时必须能停、能等、能人工接管</a:t>
            </a:r>
            <a:r>
              <a:rPr sz="1550" b="0" dirty="0">
                <a:solidFill>
                  <a:srgbClr val="262D37"/>
                </a:solidFill>
                <a:latin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2001395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0"/>
            <a:ext cx="914400" cy="731520"/>
          </a:xfrm>
          <a:prstGeom prst="rtTriangle">
            <a:avLst/>
          </a:prstGeom>
          <a:solidFill>
            <a:srgbClr val="124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0" y="0"/>
            <a:ext cx="594360" cy="457200"/>
          </a:xfrm>
          <a:prstGeom prst="rtTriangle">
            <a:avLst/>
          </a:prstGeom>
          <a:solidFill>
            <a:srgbClr val="0D9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A2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10835640" y="6355080"/>
            <a:ext cx="1353312" cy="502920"/>
          </a:xfrm>
          <a:prstGeom prst="rtTriangle">
            <a:avLst/>
          </a:prstGeom>
          <a:solidFill>
            <a:srgbClr val="0D9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2E1FF"/>
                </a:solidFill>
              </a:rPr>
              <a:t>RTK × UE 联调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46888"/>
            <a:ext cx="621792" cy="512064"/>
          </a:xfrm>
          <a:prstGeom prst="roundRect">
            <a:avLst/>
          </a:prstGeom>
          <a:solidFill>
            <a:srgbClr val="124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9184"/>
            <a:ext cx="100584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24CA3"/>
                </a:solidFill>
              </a:rPr>
              <a:t>为什么 RTK 要和 UE 联调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96012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D949B"/>
                </a:solidFill>
              </a:rPr>
              <a:t>不是单独显示经纬度，而是让真实小车和校园大脑位置一致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1197864"/>
            <a:ext cx="914400" cy="36576"/>
          </a:xfrm>
          <a:prstGeom prst="rect">
            <a:avLst/>
          </a:prstGeom>
          <a:solidFill>
            <a:srgbClr val="124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1828800"/>
            <a:ext cx="2377440" cy="640080"/>
          </a:xfrm>
          <a:prstGeom prst="roundRect">
            <a:avLst/>
          </a:prstGeom>
          <a:solidFill>
            <a:srgbClr val="0D9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RTK 输出真实位置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828800"/>
            <a:ext cx="2377440" cy="640080"/>
          </a:xfrm>
          <a:prstGeom prst="roundRect">
            <a:avLst/>
          </a:prstGeom>
          <a:solidFill>
            <a:srgbClr val="124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ROS2 解析与桥接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828800"/>
            <a:ext cx="2468880" cy="640080"/>
          </a:xfrm>
          <a:prstGeom prst="roundRect">
            <a:avLst/>
          </a:prstGeom>
          <a:solidFill>
            <a:srgbClr val="26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UE / 校园大脑显示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08960" y="2148840"/>
            <a:ext cx="1691640" cy="0"/>
          </a:xfrm>
          <a:prstGeom prst="line">
            <a:avLst/>
          </a:prstGeom>
          <a:ln w="27940">
            <a:solidFill>
              <a:srgbClr val="0D9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2148840"/>
            <a:ext cx="1645920" cy="0"/>
          </a:xfrm>
          <a:prstGeom prst="line">
            <a:avLst/>
          </a:prstGeom>
          <a:ln w="27940">
            <a:solidFill>
              <a:srgbClr val="26A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" y="2971800"/>
            <a:ext cx="3200400" cy="2286000"/>
          </a:xfrm>
          <a:prstGeom prst="roundRect">
            <a:avLst/>
          </a:prstGeom>
          <a:solidFill>
            <a:srgbClr val="E8F9F8"/>
          </a:solidFill>
          <a:ln w="15240">
            <a:solidFill>
              <a:srgbClr val="0D94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0D949B"/>
                </a:solidFill>
              </a:rPr>
              <a:t>RTK 侧确认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0242D"/>
                </a:solidFill>
              </a:rPr>
              <a:t>• 能输出有效经纬度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0242D"/>
                </a:solidFill>
              </a:rPr>
              <a:t>• 定位状态可判断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0242D"/>
                </a:solidFill>
              </a:rPr>
              <a:t>• 数据更新有频率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2971800"/>
            <a:ext cx="3200400" cy="228600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124CA3"/>
                </a:solidFill>
              </a:rPr>
              <a:t>ROS2 侧确认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0242D"/>
                </a:solidFill>
              </a:rPr>
              <a:t>• 能收到 /fix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0242D"/>
                </a:solidFill>
              </a:rPr>
              <a:t>• 能发布 /R2UTopic_Pos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0242D"/>
                </a:solidFill>
              </a:rPr>
              <a:t>• 字段与时间戳稳定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971800"/>
            <a:ext cx="3200400" cy="2286000"/>
          </a:xfrm>
          <a:prstGeom prst="roundRect">
            <a:avLst/>
          </a:prstGeom>
          <a:solidFill>
            <a:srgbClr val="EBFAF1"/>
          </a:solidFill>
          <a:ln w="15240">
            <a:solidFill>
              <a:srgbClr val="26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6A05B"/>
                </a:solidFill>
              </a:rPr>
              <a:t>UE 侧确认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0242D"/>
                </a:solidFill>
              </a:rPr>
              <a:t>• 能连接 rosbridge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0242D"/>
                </a:solidFill>
              </a:rPr>
              <a:t>• 能解析 JSON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0242D"/>
                </a:solidFill>
              </a:rPr>
              <a:t>• 模型能跟随位置移动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715000"/>
            <a:ext cx="10789920" cy="502920"/>
          </a:xfrm>
          <a:prstGeom prst="roundRect">
            <a:avLst/>
          </a:prstGeom>
          <a:solidFill>
            <a:srgbClr val="FFF7EB"/>
          </a:solidFill>
          <a:ln w="16510">
            <a:solidFill>
              <a:srgbClr val="E88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800" b="1">
                <a:solidFill>
                  <a:srgbClr val="E88B1C"/>
                </a:solidFill>
              </a:rPr>
              <a:t>上课提醒：UE 不动不一定是 UE 的问题，要先分层确认 RTK、ROS2、桥接、网络、JSON、坐标转换。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9144000" cy="228600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核心共识：联调的对象不是“单个程序”，而是一套位置数据合同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0"/>
            <a:ext cx="914400" cy="731520"/>
          </a:xfrm>
          <a:prstGeom prst="rtTriangle">
            <a:avLst/>
          </a:prstGeom>
          <a:solidFill>
            <a:srgbClr val="124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0" y="0"/>
            <a:ext cx="594360" cy="457200"/>
          </a:xfrm>
          <a:prstGeom prst="rtTriangle">
            <a:avLst/>
          </a:prstGeom>
          <a:solidFill>
            <a:srgbClr val="0D9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A2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10835640" y="6355080"/>
            <a:ext cx="1353312" cy="502920"/>
          </a:xfrm>
          <a:prstGeom prst="rtTriangle">
            <a:avLst/>
          </a:prstGeom>
          <a:solidFill>
            <a:srgbClr val="0D9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2E1FF"/>
                </a:solidFill>
              </a:rPr>
              <a:t>RTK × UE 联调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46888"/>
            <a:ext cx="621792" cy="512064"/>
          </a:xfrm>
          <a:prstGeom prst="roundRect">
            <a:avLst/>
          </a:prstGeom>
          <a:solidFill>
            <a:srgbClr val="124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9184"/>
            <a:ext cx="100584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24CA3"/>
                </a:solidFill>
              </a:rPr>
              <a:t>数据链路：RTK → ROS2 → UE5 / 校园大脑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96012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D949B"/>
                </a:solidFill>
              </a:rPr>
              <a:t>一层一层看，不要把所有问题混在一起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1197864"/>
            <a:ext cx="914400" cy="36576"/>
          </a:xfrm>
          <a:prstGeom prst="rect">
            <a:avLst/>
          </a:prstGeom>
          <a:solidFill>
            <a:srgbClr val="124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1874519"/>
            <a:ext cx="1325880" cy="777240"/>
          </a:xfrm>
          <a:prstGeom prst="roundRect">
            <a:avLst/>
          </a:prstGeom>
          <a:solidFill>
            <a:srgbClr val="E8F9F8"/>
          </a:solidFill>
          <a:ln w="16510">
            <a:solidFill>
              <a:srgbClr val="0D94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080" b="1">
                <a:solidFill>
                  <a:srgbClr val="0D949B"/>
                </a:solidFill>
              </a:rPr>
              <a:t>RTK 模块</a:t>
            </a:r>
          </a:p>
          <a:p>
            <a:pPr algn="ctr"/>
            <a:r>
              <a:rPr sz="1080" b="1">
                <a:solidFill>
                  <a:srgbClr val="0D949B"/>
                </a:solidFill>
              </a:rPr>
              <a:t>USB/UART</a:t>
            </a:r>
          </a:p>
          <a:p>
            <a:pPr algn="ctr"/>
            <a:r>
              <a:rPr sz="1080" b="1">
                <a:solidFill>
                  <a:srgbClr val="0D949B"/>
                </a:solidFill>
              </a:rPr>
              <a:t>NMEA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83080" y="0"/>
            <a:ext cx="292608" cy="0"/>
          </a:xfrm>
          <a:prstGeom prst="line">
            <a:avLst/>
          </a:prstGeom>
          <a:ln w="22860">
            <a:solidFill>
              <a:srgbClr val="0D9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112264" y="1874519"/>
            <a:ext cx="1325880" cy="777240"/>
          </a:xfrm>
          <a:prstGeom prst="roundRect">
            <a:avLst/>
          </a:prstGeom>
          <a:solidFill>
            <a:srgbClr val="E8F9F8"/>
          </a:solidFill>
          <a:ln w="16510">
            <a:solidFill>
              <a:srgbClr val="0D94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080" b="1">
                <a:solidFill>
                  <a:srgbClr val="0D949B"/>
                </a:solidFill>
              </a:rPr>
              <a:t>nmea_navsat_driver</a:t>
            </a:r>
          </a:p>
          <a:p>
            <a:pPr algn="ctr"/>
            <a:r>
              <a:rPr sz="1080" b="1">
                <a:solidFill>
                  <a:srgbClr val="0D949B"/>
                </a:solidFill>
              </a:rPr>
              <a:t>解析 NMEA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38144" y="0"/>
            <a:ext cx="292608" cy="0"/>
          </a:xfrm>
          <a:prstGeom prst="line">
            <a:avLst/>
          </a:prstGeom>
          <a:ln w="22860">
            <a:solidFill>
              <a:srgbClr val="0D94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67328" y="1874519"/>
            <a:ext cx="1325880" cy="777240"/>
          </a:xfrm>
          <a:prstGeom prst="roundRect">
            <a:avLst/>
          </a:prstGeom>
          <a:solidFill>
            <a:srgbClr val="EBF3FF"/>
          </a:solidFill>
          <a:ln w="1651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080" b="1">
                <a:solidFill>
                  <a:srgbClr val="124CA3"/>
                </a:solidFill>
              </a:rPr>
              <a:t>/fix</a:t>
            </a:r>
          </a:p>
          <a:p>
            <a:pPr algn="ctr"/>
            <a:r>
              <a:rPr sz="1080" b="1">
                <a:solidFill>
                  <a:srgbClr val="124CA3"/>
                </a:solidFill>
              </a:rPr>
              <a:t>NavSatFix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93208" y="0"/>
            <a:ext cx="292608" cy="0"/>
          </a:xfrm>
          <a:prstGeom prst="line">
            <a:avLst/>
          </a:prstGeom>
          <a:ln w="22860">
            <a:solidFill>
              <a:srgbClr val="124C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22392" y="1874519"/>
            <a:ext cx="1325880" cy="777240"/>
          </a:xfrm>
          <a:prstGeom prst="roundRect">
            <a:avLst/>
          </a:prstGeom>
          <a:solidFill>
            <a:srgbClr val="EBF3FF"/>
          </a:solidFill>
          <a:ln w="1651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080" b="1">
                <a:solidFill>
                  <a:srgbClr val="124CA3"/>
                </a:solidFill>
              </a:rPr>
              <a:t>u2r_r2u_bridge.py</a:t>
            </a:r>
          </a:p>
          <a:p>
            <a:pPr algn="ctr"/>
            <a:r>
              <a:rPr sz="1080" b="1">
                <a:solidFill>
                  <a:srgbClr val="124CA3"/>
                </a:solidFill>
              </a:rPr>
              <a:t>转 JSON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48272" y="0"/>
            <a:ext cx="292608" cy="0"/>
          </a:xfrm>
          <a:prstGeom prst="line">
            <a:avLst/>
          </a:prstGeom>
          <a:ln w="22860">
            <a:solidFill>
              <a:srgbClr val="124C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077456" y="1874519"/>
            <a:ext cx="1325880" cy="777240"/>
          </a:xfrm>
          <a:prstGeom prst="roundRect">
            <a:avLst/>
          </a:prstGeom>
          <a:solidFill>
            <a:srgbClr val="EBF3FF"/>
          </a:solidFill>
          <a:ln w="1651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080" b="1">
                <a:solidFill>
                  <a:srgbClr val="124CA3"/>
                </a:solidFill>
              </a:rPr>
              <a:t>/R2UTopic_Pos</a:t>
            </a:r>
          </a:p>
          <a:p>
            <a:pPr algn="ctr"/>
            <a:r>
              <a:rPr sz="1080" b="1">
                <a:solidFill>
                  <a:srgbClr val="124CA3"/>
                </a:solidFill>
              </a:rPr>
              <a:t>std_msgs/String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03336" y="0"/>
            <a:ext cx="292608" cy="0"/>
          </a:xfrm>
          <a:prstGeom prst="line">
            <a:avLst/>
          </a:prstGeom>
          <a:ln w="22860">
            <a:solidFill>
              <a:srgbClr val="124C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732520" y="1874519"/>
            <a:ext cx="1325880" cy="777240"/>
          </a:xfrm>
          <a:prstGeom prst="roundRect">
            <a:avLst/>
          </a:prstGeom>
          <a:solidFill>
            <a:srgbClr val="EBFAF1"/>
          </a:solidFill>
          <a:ln w="16510">
            <a:solidFill>
              <a:srgbClr val="26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080" b="1">
                <a:solidFill>
                  <a:srgbClr val="26A05B"/>
                </a:solidFill>
              </a:rPr>
              <a:t>rosbridge :9090</a:t>
            </a:r>
          </a:p>
          <a:p>
            <a:pPr algn="ctr"/>
            <a:r>
              <a:rPr sz="1080" b="1">
                <a:solidFill>
                  <a:srgbClr val="26A05B"/>
                </a:solidFill>
              </a:rPr>
              <a:t>TCP/BSON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058400" y="0"/>
            <a:ext cx="292608" cy="0"/>
          </a:xfrm>
          <a:prstGeom prst="line">
            <a:avLst/>
          </a:prstGeom>
          <a:ln w="22860">
            <a:solidFill>
              <a:srgbClr val="26A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387584" y="1874519"/>
            <a:ext cx="1325880" cy="777240"/>
          </a:xfrm>
          <a:prstGeom prst="roundRect">
            <a:avLst/>
          </a:prstGeom>
          <a:solidFill>
            <a:srgbClr val="EBFAF1"/>
          </a:solidFill>
          <a:ln w="16510">
            <a:solidFill>
              <a:srgbClr val="26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080" b="1">
                <a:solidFill>
                  <a:srgbClr val="26A05B"/>
                </a:solidFill>
              </a:rPr>
              <a:t>UE5 / 校园大脑</a:t>
            </a:r>
          </a:p>
          <a:p>
            <a:pPr algn="ctr"/>
            <a:r>
              <a:rPr sz="1080" b="1">
                <a:solidFill>
                  <a:srgbClr val="26A05B"/>
                </a:solidFill>
              </a:rPr>
              <a:t>显示/轨迹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22960" y="3246120"/>
          <a:ext cx="10515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7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1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环节</a:t>
                      </a:r>
                    </a:p>
                  </a:txBody>
                  <a:tcPr>
                    <a:solidFill>
                      <a:srgbClr val="124C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主要职责</a:t>
                      </a:r>
                    </a:p>
                  </a:txBody>
                  <a:tcPr>
                    <a:solidFill>
                      <a:srgbClr val="124C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检查点</a:t>
                      </a:r>
                    </a:p>
                  </a:txBody>
                  <a:tcPr>
                    <a:solidFill>
                      <a:srgbClr val="124C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42D"/>
                          </a:solidFill>
                        </a:rPr>
                        <a:t>RTK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2D"/>
                          </a:solidFill>
                        </a:rPr>
                        <a:t>输出 NMEA 定位数据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2D"/>
                          </a:solidFill>
                        </a:rPr>
                        <a:t>串口识别、$GNGGA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42D"/>
                          </a:solidFill>
                        </a:rPr>
                        <a:t>驱动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2D"/>
                          </a:solidFill>
                        </a:rPr>
                        <a:t>解析成 /fix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2D"/>
                          </a:solidFill>
                        </a:rPr>
                        <a:t>经纬度是否有效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42D"/>
                          </a:solidFill>
                        </a:rPr>
                        <a:t>/R2UTopic_Pos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2D"/>
                          </a:solidFill>
                        </a:rPr>
                        <a:t>给 UE 的位置 JSON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2D"/>
                          </a:solidFill>
                        </a:rPr>
                        <a:t>字段完整、频率稳定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42D"/>
                          </a:solidFill>
                        </a:rPr>
                        <a:t>rosbridge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2D"/>
                          </a:solidFill>
                        </a:rPr>
                        <a:t>UE 与 ROS2 通信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2D"/>
                          </a:solidFill>
                        </a:rPr>
                        <a:t>端口 9090 可连接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42D"/>
                          </a:solidFill>
                        </a:rPr>
                        <a:t>UE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2D"/>
                          </a:solidFill>
                        </a:rPr>
                        <a:t>显示模型与轨迹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2D"/>
                          </a:solidFill>
                        </a:rPr>
                        <a:t>解析和坐标转换正确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594360" y="5715000"/>
            <a:ext cx="10789920" cy="502920"/>
          </a:xfrm>
          <a:prstGeom prst="roundRect">
            <a:avLst/>
          </a:prstGeom>
          <a:solidFill>
            <a:srgbClr val="FFF7EB"/>
          </a:solidFill>
          <a:ln w="16510">
            <a:solidFill>
              <a:srgbClr val="E88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800" b="1">
                <a:solidFill>
                  <a:srgbClr val="E88B1C"/>
                </a:solidFill>
              </a:rPr>
              <a:t>讲课提示：先证明每一层“有数据、格式对、频率稳”，最后才讨论 UE 模型为什么偏。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9144000" cy="228600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联调口号：先看 /fix，再看 /R2UTopic_Pos，最后看 UE 显示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0"/>
            <a:ext cx="914400" cy="731520"/>
          </a:xfrm>
          <a:prstGeom prst="rtTriangle">
            <a:avLst/>
          </a:prstGeom>
          <a:solidFill>
            <a:srgbClr val="124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0" y="0"/>
            <a:ext cx="594360" cy="457200"/>
          </a:xfrm>
          <a:prstGeom prst="rtTriangle">
            <a:avLst/>
          </a:prstGeom>
          <a:solidFill>
            <a:srgbClr val="0D9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A2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10835640" y="6355080"/>
            <a:ext cx="1353312" cy="502920"/>
          </a:xfrm>
          <a:prstGeom prst="rtTriangle">
            <a:avLst/>
          </a:prstGeom>
          <a:solidFill>
            <a:srgbClr val="0D9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2E1FF"/>
                </a:solidFill>
              </a:rPr>
              <a:t>RTK × UE 联调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46888"/>
            <a:ext cx="621792" cy="512064"/>
          </a:xfrm>
          <a:prstGeom prst="roundRect">
            <a:avLst/>
          </a:prstGeom>
          <a:solidFill>
            <a:srgbClr val="124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9184"/>
            <a:ext cx="100584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24CA3"/>
                </a:solidFill>
              </a:rPr>
              <a:t>UE 接收的数据合同：/R2UTopic_Pos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96012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D949B"/>
                </a:solidFill>
              </a:rPr>
              <a:t>基础字段必须稳定，扩展字段可以后续增加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1197864"/>
            <a:ext cx="914400" cy="36576"/>
          </a:xfrm>
          <a:prstGeom prst="rect">
            <a:avLst/>
          </a:prstGeom>
          <a:solidFill>
            <a:srgbClr val="124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1463040"/>
            <a:ext cx="4114800" cy="3886200"/>
          </a:xfrm>
          <a:prstGeom prst="roundRect">
            <a:avLst/>
          </a:prstGeom>
          <a:solidFill>
            <a:srgbClr val="1B212F"/>
          </a:solidFill>
          <a:ln w="1524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500" dirty="0">
                <a:solidFill>
                  <a:srgbClr val="E6F5FF"/>
                </a:solidFill>
                <a:latin typeface="Consolas"/>
              </a:rPr>
              <a:t>{
  "status": 0,
  "</a:t>
            </a:r>
            <a:r>
              <a:rPr sz="1500" dirty="0" err="1">
                <a:solidFill>
                  <a:srgbClr val="E6F5FF"/>
                </a:solidFill>
                <a:latin typeface="Consolas"/>
              </a:rPr>
              <a:t>status_name</a:t>
            </a:r>
            <a:r>
              <a:rPr sz="1500" dirty="0">
                <a:solidFill>
                  <a:srgbClr val="E6F5FF"/>
                </a:solidFill>
                <a:latin typeface="Consolas"/>
              </a:rPr>
              <a:t>": "FIX",
  "latitude": 22.00000000,
  "longitude": 113.00000000,
  "altitude": 10.0,
  "timestamp": 1710000000.0,
  "</a:t>
            </a:r>
            <a:r>
              <a:rPr sz="1500" dirty="0" err="1">
                <a:solidFill>
                  <a:srgbClr val="E6F5FF"/>
                </a:solidFill>
                <a:latin typeface="Consolas"/>
              </a:rPr>
              <a:t>frame_id</a:t>
            </a:r>
            <a:r>
              <a:rPr sz="1500" dirty="0">
                <a:solidFill>
                  <a:srgbClr val="E6F5FF"/>
                </a:solidFill>
                <a:latin typeface="Consolas"/>
              </a:rPr>
              <a:t>": "</a:t>
            </a:r>
            <a:r>
              <a:rPr sz="1500" dirty="0" err="1">
                <a:solidFill>
                  <a:srgbClr val="E6F5FF"/>
                </a:solidFill>
                <a:latin typeface="Consolas"/>
              </a:rPr>
              <a:t>gps</a:t>
            </a:r>
            <a:r>
              <a:rPr sz="1500" dirty="0">
                <a:solidFill>
                  <a:srgbClr val="E6F5FF"/>
                </a:solidFill>
                <a:latin typeface="Consolas"/>
              </a:rPr>
              <a:t>"
}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74920" y="1417320"/>
          <a:ext cx="6400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字段</a:t>
                      </a:r>
                    </a:p>
                  </a:txBody>
                  <a:tcPr>
                    <a:solidFill>
                      <a:srgbClr val="124C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含义</a:t>
                      </a:r>
                    </a:p>
                  </a:txBody>
                  <a:tcPr>
                    <a:solidFill>
                      <a:srgbClr val="124C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UE 侧用途</a:t>
                      </a:r>
                    </a:p>
                  </a:txBody>
                  <a:tcPr>
                    <a:solidFill>
                      <a:srgbClr val="124C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0242D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0242D"/>
                          </a:solidFill>
                        </a:rPr>
                        <a:t>定位状态码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42D"/>
                          </a:solidFill>
                        </a:rPr>
                        <a:t>判断是否有效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0242D"/>
                          </a:solidFill>
                        </a:rPr>
                        <a:t>status_name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0242D"/>
                          </a:solidFill>
                        </a:rPr>
                        <a:t>状态名称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42D"/>
                          </a:solidFill>
                        </a:rPr>
                        <a:t>UI 显示 FIX / NO_FIX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0242D"/>
                          </a:solidFill>
                        </a:rPr>
                        <a:t>latitude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0242D"/>
                          </a:solidFill>
                        </a:rPr>
                        <a:t>纬度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42D"/>
                          </a:solidFill>
                        </a:rPr>
                        <a:t>转 UE 地图坐标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0242D"/>
                          </a:solidFill>
                        </a:rPr>
                        <a:t>longitude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0242D"/>
                          </a:solidFill>
                        </a:rPr>
                        <a:t>经度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42D"/>
                          </a:solidFill>
                        </a:rPr>
                        <a:t>转 UE 地图坐标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0242D"/>
                          </a:solidFill>
                        </a:rPr>
                        <a:t>altitude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0242D"/>
                          </a:solidFill>
                        </a:rPr>
                        <a:t>高度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42D"/>
                          </a:solidFill>
                        </a:rPr>
                        <a:t>可选高度显示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0242D"/>
                          </a:solidFill>
                        </a:rPr>
                        <a:t>timestamp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0242D"/>
                          </a:solidFill>
                        </a:rPr>
                        <a:t>时间戳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42D"/>
                          </a:solidFill>
                        </a:rPr>
                        <a:t>判断数据是否过期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0242D"/>
                          </a:solidFill>
                        </a:rPr>
                        <a:t>frame_id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0242D"/>
                          </a:solidFill>
                        </a:rPr>
                        <a:t>坐标来源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42D"/>
                          </a:solidFill>
                        </a:rPr>
                        <a:t>标明 GPS/RTK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120640" y="5074920"/>
            <a:ext cx="6309360" cy="640080"/>
          </a:xfrm>
          <a:prstGeom prst="roundRect">
            <a:avLst/>
          </a:prstGeom>
          <a:solidFill>
            <a:srgbClr val="FFF7EB"/>
          </a:solidFill>
          <a:ln w="16510">
            <a:solidFill>
              <a:srgbClr val="E88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500" b="1">
                <a:solidFill>
                  <a:srgbClr val="E88B1C"/>
                </a:solidFill>
              </a:rPr>
              <a:t>扩展字段建议放入 vehicle：speed、heading、task_state。不要让 UE 基础显示依赖临时调试字段。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9144000" cy="228600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给 UE 工程师的核心：String.data 内部是一段 JSON 字符串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0"/>
            <a:ext cx="914400" cy="731520"/>
          </a:xfrm>
          <a:prstGeom prst="rtTriangle">
            <a:avLst/>
          </a:prstGeom>
          <a:solidFill>
            <a:srgbClr val="124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0" y="0"/>
            <a:ext cx="594360" cy="457200"/>
          </a:xfrm>
          <a:prstGeom prst="rtTriangle">
            <a:avLst/>
          </a:prstGeom>
          <a:solidFill>
            <a:srgbClr val="0D9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A2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10835640" y="6355080"/>
            <a:ext cx="1353312" cy="502920"/>
          </a:xfrm>
          <a:prstGeom prst="rtTriangle">
            <a:avLst/>
          </a:prstGeom>
          <a:solidFill>
            <a:srgbClr val="0D9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2E1FF"/>
                </a:solidFill>
              </a:rPr>
              <a:t>RTK × UE 联调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46888"/>
            <a:ext cx="621792" cy="512064"/>
          </a:xfrm>
          <a:prstGeom prst="roundRect">
            <a:avLst/>
          </a:prstGeom>
          <a:solidFill>
            <a:srgbClr val="124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9184"/>
            <a:ext cx="100584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24CA3"/>
                </a:solidFill>
              </a:rPr>
              <a:t>坐标口径：经纬度不能直接等于 UE 世界坐标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96012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D949B"/>
                </a:solidFill>
              </a:rPr>
              <a:t>真实地球坐标需要转换成校园模型坐标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1197864"/>
            <a:ext cx="914400" cy="36576"/>
          </a:xfrm>
          <a:prstGeom prst="rect">
            <a:avLst/>
          </a:prstGeom>
          <a:solidFill>
            <a:srgbClr val="124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1828800"/>
            <a:ext cx="2331720" cy="777240"/>
          </a:xfrm>
          <a:prstGeom prst="roundRect">
            <a:avLst/>
          </a:prstGeom>
          <a:solidFill>
            <a:srgbClr val="E8F9F8"/>
          </a:solidFill>
          <a:ln w="16510">
            <a:solidFill>
              <a:srgbClr val="0D94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250" b="1">
                <a:solidFill>
                  <a:srgbClr val="0D949B"/>
                </a:solidFill>
              </a:rPr>
              <a:t>RTK 经纬度</a:t>
            </a:r>
          </a:p>
          <a:p>
            <a:pPr algn="ctr"/>
            <a:r>
              <a:rPr sz="1250" b="1">
                <a:solidFill>
                  <a:srgbClr val="0D949B"/>
                </a:solidFill>
              </a:rPr>
              <a:t>latitude / longitude / altitude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71800" y="0"/>
            <a:ext cx="411480" cy="0"/>
          </a:xfrm>
          <a:prstGeom prst="line">
            <a:avLst/>
          </a:prstGeom>
          <a:ln w="25400">
            <a:solidFill>
              <a:srgbClr val="124C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74720" y="1828800"/>
            <a:ext cx="2331720" cy="777240"/>
          </a:xfrm>
          <a:prstGeom prst="roundRect">
            <a:avLst/>
          </a:prstGeom>
          <a:solidFill>
            <a:srgbClr val="EBF3FF"/>
          </a:solidFill>
          <a:ln w="1651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250" b="1">
                <a:solidFill>
                  <a:srgbClr val="124CA3"/>
                </a:solidFill>
              </a:rPr>
              <a:t>参考原点</a:t>
            </a:r>
          </a:p>
          <a:p>
            <a:pPr algn="ctr"/>
            <a:r>
              <a:rPr sz="1250" b="1">
                <a:solidFill>
                  <a:srgbClr val="124CA3"/>
                </a:solidFill>
              </a:rPr>
              <a:t>origin_lat / origin_lon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06440" y="0"/>
            <a:ext cx="411480" cy="0"/>
          </a:xfrm>
          <a:prstGeom prst="line">
            <a:avLst/>
          </a:prstGeom>
          <a:ln w="25400">
            <a:solidFill>
              <a:srgbClr val="124C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09360" y="1828800"/>
            <a:ext cx="2331720" cy="777240"/>
          </a:xfrm>
          <a:prstGeom prst="roundRect">
            <a:avLst/>
          </a:prstGeom>
          <a:solidFill>
            <a:srgbClr val="EBF3FF"/>
          </a:solidFill>
          <a:ln w="1651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250" b="1">
                <a:solidFill>
                  <a:srgbClr val="124CA3"/>
                </a:solidFill>
              </a:rPr>
              <a:t>局部米制坐标</a:t>
            </a:r>
          </a:p>
          <a:p>
            <a:pPr algn="ctr"/>
            <a:r>
              <a:rPr sz="1250" b="1">
                <a:solidFill>
                  <a:srgbClr val="124CA3"/>
                </a:solidFill>
              </a:rPr>
              <a:t>x / y / z，单位：米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41080" y="0"/>
            <a:ext cx="411480" cy="0"/>
          </a:xfrm>
          <a:prstGeom prst="line">
            <a:avLst/>
          </a:prstGeom>
          <a:ln w="25400">
            <a:solidFill>
              <a:srgbClr val="124C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44000" y="1828800"/>
            <a:ext cx="2331720" cy="777240"/>
          </a:xfrm>
          <a:prstGeom prst="roundRect">
            <a:avLst/>
          </a:prstGeom>
          <a:solidFill>
            <a:srgbClr val="EBFAF1"/>
          </a:solidFill>
          <a:ln w="16510">
            <a:solidFill>
              <a:srgbClr val="26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250" b="1">
                <a:solidFill>
                  <a:srgbClr val="26A05B"/>
                </a:solidFill>
              </a:rPr>
              <a:t>UE 世界坐标</a:t>
            </a:r>
          </a:p>
          <a:p>
            <a:pPr algn="ctr"/>
            <a:r>
              <a:rPr sz="1250" b="1">
                <a:solidFill>
                  <a:srgbClr val="26A05B"/>
                </a:solidFill>
              </a:rPr>
              <a:t>X / Y / Z，单位与轴向由 UE 确认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22960" y="3200400"/>
          <a:ext cx="105156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3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2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必须提前确认的问题</a:t>
                      </a:r>
                    </a:p>
                  </a:txBody>
                  <a:tcPr>
                    <a:solidFill>
                      <a:srgbClr val="124C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负责确认</a:t>
                      </a:r>
                    </a:p>
                  </a:txBody>
                  <a:tcPr>
                    <a:solidFill>
                      <a:srgbClr val="124C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42D"/>
                          </a:solidFill>
                        </a:rPr>
                        <a:t>校园地图原点在哪里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2D"/>
                          </a:solidFill>
                        </a:rPr>
                        <a:t>算法组 + UE 工程师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42D"/>
                          </a:solidFill>
                        </a:rPr>
                        <a:t>经度对应 UE 的 X 还是 Y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2D"/>
                          </a:solidFill>
                        </a:rPr>
                        <a:t>UE 工程师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42D"/>
                          </a:solidFill>
                        </a:rPr>
                        <a:t>是否需要旋转角度/偏航补偿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2D"/>
                          </a:solidFill>
                        </a:rPr>
                        <a:t>算法组 + UE 工程师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42D"/>
                          </a:solidFill>
                        </a:rPr>
                        <a:t>米制坐标到 UE 单位比例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2D"/>
                          </a:solidFill>
                        </a:rPr>
                        <a:t>UE 工程师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42D"/>
                          </a:solidFill>
                        </a:rPr>
                        <a:t>小车模型朝向如何定义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2D"/>
                          </a:solidFill>
                        </a:rPr>
                        <a:t>控制组 + UE 工程师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17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42D"/>
                          </a:solidFill>
                        </a:rPr>
                        <a:t>无定位时 UE 怎么显示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2D"/>
                          </a:solidFill>
                        </a:rPr>
                        <a:t>算法组 + UE 工程师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594360" y="5806440"/>
            <a:ext cx="10789920" cy="411480"/>
          </a:xfrm>
          <a:prstGeom prst="roundRect">
            <a:avLst/>
          </a:prstGeom>
          <a:solidFill>
            <a:srgbClr val="FFF2F2"/>
          </a:solidFill>
          <a:ln w="16510">
            <a:solidFill>
              <a:srgbClr val="D2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>
                <a:solidFill>
                  <a:srgbClr val="D23030"/>
                </a:solidFill>
              </a:rPr>
              <a:t>常见联调失败：单位不同、轴向相反、原点不一致、模型朝向和真实车头定义不同。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9144000" cy="228600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一句话：RTK 说“我在地球哪里”，UE 要的是“我在校园模型哪里”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0"/>
            <a:ext cx="914400" cy="731520"/>
          </a:xfrm>
          <a:prstGeom prst="rtTriangle">
            <a:avLst/>
          </a:prstGeom>
          <a:solidFill>
            <a:srgbClr val="124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0" y="0"/>
            <a:ext cx="594360" cy="457200"/>
          </a:xfrm>
          <a:prstGeom prst="rtTriangle">
            <a:avLst/>
          </a:prstGeom>
          <a:solidFill>
            <a:srgbClr val="0D9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A2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10835640" y="6355080"/>
            <a:ext cx="1353312" cy="502920"/>
          </a:xfrm>
          <a:prstGeom prst="rtTriangle">
            <a:avLst/>
          </a:prstGeom>
          <a:solidFill>
            <a:srgbClr val="0D9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2E1FF"/>
                </a:solidFill>
              </a:rPr>
              <a:t>RTK × UE 联调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46888"/>
            <a:ext cx="621792" cy="512064"/>
          </a:xfrm>
          <a:prstGeom prst="roundRect">
            <a:avLst/>
          </a:prstGeom>
          <a:solidFill>
            <a:srgbClr val="124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9184"/>
            <a:ext cx="100584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24CA3"/>
                </a:solidFill>
              </a:rPr>
              <a:t>现场联调流程：一层一层确认，不要直接看 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96012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D949B"/>
                </a:solidFill>
              </a:rPr>
              <a:t>从串口到模型移动，按步骤排查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1197864"/>
            <a:ext cx="914400" cy="36576"/>
          </a:xfrm>
          <a:prstGeom prst="rect">
            <a:avLst/>
          </a:prstGeom>
          <a:solidFill>
            <a:srgbClr val="124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1508760"/>
            <a:ext cx="3291840" cy="1600200"/>
          </a:xfrm>
          <a:prstGeom prst="roundRect">
            <a:avLst/>
          </a:prstGeom>
          <a:solidFill>
            <a:srgbClr val="EBF3FF"/>
          </a:solidFill>
          <a:ln w="1651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l"/>
            <a:r>
              <a:rPr sz="1400" b="0">
                <a:solidFill>
                  <a:srgbClr val="20242D"/>
                </a:solidFill>
              </a:rPr>
              <a:t>1. 确认 RTK 串口</a:t>
            </a:r>
          </a:p>
          <a:p>
            <a:pPr algn="l"/>
            <a:r>
              <a:rPr sz="1400" b="0">
                <a:solidFill>
                  <a:srgbClr val="20242D"/>
                </a:solidFill>
              </a:rPr>
              <a:t>ls /dev/ttyACM*</a:t>
            </a:r>
          </a:p>
          <a:p>
            <a:pPr algn="l"/>
            <a:r>
              <a:rPr sz="1400" b="0">
                <a:solidFill>
                  <a:srgbClr val="20242D"/>
                </a:solidFill>
              </a:rPr>
              <a:t>ls /dev/ttyUSB*</a:t>
            </a:r>
          </a:p>
          <a:p>
            <a:pPr algn="l"/>
            <a:r>
              <a:rPr sz="1400" b="0">
                <a:solidFill>
                  <a:srgbClr val="20242D"/>
                </a:solidFill>
              </a:rPr>
              <a:t>看是否有 $GNGGA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508760"/>
            <a:ext cx="3291840" cy="1600200"/>
          </a:xfrm>
          <a:prstGeom prst="roundRect">
            <a:avLst/>
          </a:prstGeom>
          <a:solidFill>
            <a:srgbClr val="EBF3FF"/>
          </a:solidFill>
          <a:ln w="1651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l"/>
            <a:r>
              <a:rPr sz="1400" b="0">
                <a:solidFill>
                  <a:srgbClr val="20242D"/>
                </a:solidFill>
              </a:rPr>
              <a:t>2. 确认 /fix</a:t>
            </a:r>
          </a:p>
          <a:p>
            <a:pPr algn="l"/>
            <a:r>
              <a:rPr sz="1400" b="0">
                <a:solidFill>
                  <a:srgbClr val="20242D"/>
                </a:solidFill>
              </a:rPr>
              <a:t>ros2 topic echo /fix</a:t>
            </a:r>
          </a:p>
          <a:p>
            <a:pPr algn="l"/>
            <a:r>
              <a:rPr sz="1400" b="0">
                <a:solidFill>
                  <a:srgbClr val="20242D"/>
                </a:solidFill>
              </a:rPr>
              <a:t>看 latitude /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508760"/>
            <a:ext cx="3291840" cy="1600200"/>
          </a:xfrm>
          <a:prstGeom prst="roundRect">
            <a:avLst/>
          </a:prstGeom>
          <a:solidFill>
            <a:srgbClr val="EBF3FF"/>
          </a:solidFill>
          <a:ln w="1651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l"/>
            <a:r>
              <a:rPr sz="1400" b="0">
                <a:solidFill>
                  <a:srgbClr val="20242D"/>
                </a:solidFill>
              </a:rPr>
              <a:t>3. 确认 /R2UTopic_Pos</a:t>
            </a:r>
          </a:p>
          <a:p>
            <a:pPr algn="l"/>
            <a:r>
              <a:rPr sz="1400" b="0">
                <a:solidFill>
                  <a:srgbClr val="20242D"/>
                </a:solidFill>
              </a:rPr>
              <a:t>ros2 topic echo /R2UTopic_Pos</a:t>
            </a:r>
          </a:p>
          <a:p>
            <a:pPr algn="l"/>
            <a:r>
              <a:rPr sz="1400" b="0">
                <a:solidFill>
                  <a:srgbClr val="20242D"/>
                </a:solidFill>
              </a:rPr>
              <a:t>ros2 topic hz /R2UTopic_Pos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66160"/>
            <a:ext cx="3291840" cy="1600200"/>
          </a:xfrm>
          <a:prstGeom prst="roundRect">
            <a:avLst/>
          </a:prstGeom>
          <a:solidFill>
            <a:srgbClr val="EBFAF1"/>
          </a:solidFill>
          <a:ln w="16510">
            <a:solidFill>
              <a:srgbClr val="26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l"/>
            <a:r>
              <a:rPr sz="1400" b="0">
                <a:solidFill>
                  <a:srgbClr val="20242D"/>
                </a:solidFill>
              </a:rPr>
              <a:t>4. 确认 rosbridge</a:t>
            </a:r>
          </a:p>
          <a:p>
            <a:pPr algn="l"/>
            <a:r>
              <a:rPr sz="1400" b="0">
                <a:solidFill>
                  <a:srgbClr val="20242D"/>
                </a:solidFill>
              </a:rPr>
              <a:t>ss -tlnp | grep 9090</a:t>
            </a:r>
          </a:p>
          <a:p>
            <a:pPr algn="l"/>
            <a:r>
              <a:rPr sz="1400" b="0">
                <a:solidFill>
                  <a:srgbClr val="20242D"/>
                </a:solidFill>
              </a:rPr>
              <a:t>tcp://&lt;NUC_IP&gt;:9090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3566160"/>
            <a:ext cx="3291840" cy="1600200"/>
          </a:xfrm>
          <a:prstGeom prst="roundRect">
            <a:avLst/>
          </a:prstGeom>
          <a:solidFill>
            <a:srgbClr val="EBFAF1"/>
          </a:solidFill>
          <a:ln w="16510">
            <a:solidFill>
              <a:srgbClr val="26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l"/>
            <a:r>
              <a:rPr sz="1400" b="0">
                <a:solidFill>
                  <a:srgbClr val="20242D"/>
                </a:solidFill>
              </a:rPr>
              <a:t>5. UE 打印 JSON</a:t>
            </a:r>
          </a:p>
          <a:p>
            <a:pPr algn="l"/>
            <a:r>
              <a:rPr sz="1400" b="0">
                <a:solidFill>
                  <a:srgbClr val="20242D"/>
                </a:solidFill>
              </a:rPr>
              <a:t>先打印原始 JSON</a:t>
            </a:r>
          </a:p>
          <a:p>
            <a:pPr algn="l"/>
            <a:r>
              <a:rPr sz="1400" b="0">
                <a:solidFill>
                  <a:srgbClr val="20242D"/>
                </a:solidFill>
              </a:rPr>
              <a:t>确认字段和类型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3566160"/>
            <a:ext cx="3291840" cy="1600200"/>
          </a:xfrm>
          <a:prstGeom prst="roundRect">
            <a:avLst/>
          </a:prstGeom>
          <a:solidFill>
            <a:srgbClr val="EBFAF1"/>
          </a:solidFill>
          <a:ln w="16510">
            <a:solidFill>
              <a:srgbClr val="26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l"/>
            <a:r>
              <a:rPr sz="1400" b="0">
                <a:solidFill>
                  <a:srgbClr val="20242D"/>
                </a:solidFill>
              </a:rPr>
              <a:t>6. 坐标映射与模型移动</a:t>
            </a:r>
          </a:p>
          <a:p>
            <a:pPr algn="l"/>
            <a:r>
              <a:rPr sz="1400" b="0">
                <a:solidFill>
                  <a:srgbClr val="20242D"/>
                </a:solidFill>
              </a:rPr>
              <a:t>经纬度 → x/y → UE X/Y</a:t>
            </a:r>
          </a:p>
          <a:p>
            <a:pPr algn="l"/>
            <a:r>
              <a:rPr sz="1400" b="0">
                <a:solidFill>
                  <a:srgbClr val="20242D"/>
                </a:solidFill>
              </a:rPr>
              <a:t>观察模型变化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715000"/>
            <a:ext cx="10424160" cy="502920"/>
          </a:xfrm>
          <a:prstGeom prst="roundRect">
            <a:avLst/>
          </a:prstGeom>
          <a:solidFill>
            <a:srgbClr val="FFF7EB"/>
          </a:solidFill>
          <a:ln w="16510">
            <a:solidFill>
              <a:srgbClr val="E88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800" b="1">
                <a:solidFill>
                  <a:srgbClr val="E88B1C"/>
                </a:solidFill>
              </a:rPr>
              <a:t>上课提示：UE 小车不动时，不要先问“UE 为什么坏了”，先确认前 4 步是否成立。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9144000" cy="228600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联调动作：先静止测试，再移动 3–5 米，不要直接跑复杂路线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0"/>
            <a:ext cx="914400" cy="731520"/>
          </a:xfrm>
          <a:prstGeom prst="rtTriangle">
            <a:avLst/>
          </a:prstGeom>
          <a:solidFill>
            <a:srgbClr val="124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0" y="0"/>
            <a:ext cx="594360" cy="457200"/>
          </a:xfrm>
          <a:prstGeom prst="rtTriangle">
            <a:avLst/>
          </a:prstGeom>
          <a:solidFill>
            <a:srgbClr val="0D9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A2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10835640" y="6355080"/>
            <a:ext cx="1353312" cy="502920"/>
          </a:xfrm>
          <a:prstGeom prst="rtTriangle">
            <a:avLst/>
          </a:prstGeom>
          <a:solidFill>
            <a:srgbClr val="0D9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2E1FF"/>
                </a:solidFill>
              </a:rPr>
              <a:t>RTK × UE 联调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46888"/>
            <a:ext cx="621792" cy="512064"/>
          </a:xfrm>
          <a:prstGeom prst="roundRect">
            <a:avLst/>
          </a:prstGeom>
          <a:solidFill>
            <a:srgbClr val="124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9184"/>
            <a:ext cx="100584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24CA3"/>
                </a:solidFill>
              </a:rPr>
              <a:t>常见问题：先定位是哪一层出错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96012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D949B"/>
                </a:solidFill>
              </a:rPr>
              <a:t>现场有 UE 工程师时，最重要的是分清边界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1197864"/>
            <a:ext cx="914400" cy="36576"/>
          </a:xfrm>
          <a:prstGeom prst="rect">
            <a:avLst/>
          </a:prstGeom>
          <a:solidFill>
            <a:srgbClr val="124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417320"/>
          <a:ext cx="1101852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5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8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4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现象</a:t>
                      </a:r>
                    </a:p>
                  </a:txBody>
                  <a:tcPr>
                    <a:solidFill>
                      <a:srgbClr val="124C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可能原因</a:t>
                      </a:r>
                    </a:p>
                  </a:txBody>
                  <a:tcPr>
                    <a:solidFill>
                      <a:srgbClr val="124C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主要负责人</a:t>
                      </a:r>
                    </a:p>
                  </a:txBody>
                  <a:tcPr>
                    <a:solidFill>
                      <a:srgbClr val="124C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0242D"/>
                          </a:solidFill>
                        </a:rPr>
                        <a:t>/fix 没有数据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0242D"/>
                          </a:solidFill>
                        </a:rPr>
                        <a:t>RTK 串口不对、驱动没启动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42D"/>
                          </a:solidFill>
                        </a:rPr>
                        <a:t>算法组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0242D"/>
                          </a:solidFill>
                        </a:rPr>
                        <a:t>/fix 是 NaN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0242D"/>
                          </a:solidFill>
                        </a:rPr>
                        <a:t>室内无卫星、RTK 未定位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42D"/>
                          </a:solidFill>
                        </a:rPr>
                        <a:t>算法组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0242D"/>
                          </a:solidFill>
                        </a:rPr>
                        <a:t>/R2UTopic_Pos 没有数据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0242D"/>
                          </a:solidFill>
                        </a:rPr>
                        <a:t>桥接程序没启动或报错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42D"/>
                          </a:solidFill>
                        </a:rPr>
                        <a:t>算法组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0242D"/>
                          </a:solidFill>
                        </a:rPr>
                        <a:t>UE 连不上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0242D"/>
                          </a:solidFill>
                        </a:rPr>
                        <a:t>IP、端口、网络问题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42D"/>
                          </a:solidFill>
                        </a:rPr>
                        <a:t>算法组 + UE 工程师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0242D"/>
                          </a:solidFill>
                        </a:rPr>
                        <a:t>UE 解析失败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0242D"/>
                          </a:solidFill>
                        </a:rPr>
                        <a:t>JSON 格式或字段名不一致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42D"/>
                          </a:solidFill>
                        </a:rPr>
                        <a:t>算法组 + UE 工程师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0242D"/>
                          </a:solidFill>
                        </a:rPr>
                        <a:t>UE 位置偏移很大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0242D"/>
                          </a:solidFill>
                        </a:rPr>
                        <a:t>原点、比例、坐标轴错误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42D"/>
                          </a:solidFill>
                        </a:rPr>
                        <a:t>UE 工程师 + 算法组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0242D"/>
                          </a:solidFill>
                        </a:rPr>
                        <a:t>UE 小车方向反了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0242D"/>
                          </a:solidFill>
                        </a:rPr>
                        <a:t>heading 定义或模型朝向不一致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42D"/>
                          </a:solidFill>
                        </a:rPr>
                        <a:t>UE 工程师 + 控制组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1967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0242D"/>
                          </a:solidFill>
                        </a:rPr>
                        <a:t>位置跳动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0242D"/>
                          </a:solidFill>
                        </a:rPr>
                        <a:t>RTK 信号差、滤波不足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42D"/>
                          </a:solidFill>
                        </a:rPr>
                        <a:t>算法组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22960" y="5577840"/>
            <a:ext cx="2560320" cy="530352"/>
          </a:xfrm>
          <a:prstGeom prst="roundRect">
            <a:avLst/>
          </a:prstGeom>
          <a:solidFill>
            <a:srgbClr val="EBF3FF"/>
          </a:solidFill>
          <a:ln w="1651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r>
              <a:rPr sz="1300" b="1">
                <a:solidFill>
                  <a:srgbClr val="124CA3"/>
                </a:solidFill>
              </a:rPr>
              <a:t>算法组：RTK、/fix、JSON、坐标转换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5577840"/>
            <a:ext cx="2377440" cy="530352"/>
          </a:xfrm>
          <a:prstGeom prst="roundRect">
            <a:avLst/>
          </a:prstGeom>
          <a:solidFill>
            <a:srgbClr val="EBFAF1"/>
          </a:solidFill>
          <a:ln w="16510">
            <a:solidFill>
              <a:srgbClr val="26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r>
              <a:rPr sz="1300" b="1">
                <a:solidFill>
                  <a:srgbClr val="26A05B"/>
                </a:solidFill>
              </a:rPr>
              <a:t>UE：连接、解析、坐标映射、模型显示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5577840"/>
            <a:ext cx="2286000" cy="530352"/>
          </a:xfrm>
          <a:prstGeom prst="roundRect">
            <a:avLst/>
          </a:prstGeom>
          <a:solidFill>
            <a:srgbClr val="E8F9F8"/>
          </a:solidFill>
          <a:ln w="16510">
            <a:solidFill>
              <a:srgbClr val="0D94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r>
              <a:rPr sz="1300" b="1">
                <a:solidFill>
                  <a:srgbClr val="0D949B"/>
                </a:solidFill>
              </a:rPr>
              <a:t>控制组：运动、速度、朝向、状态反馈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5577840"/>
            <a:ext cx="2560320" cy="530352"/>
          </a:xfrm>
          <a:prstGeom prst="roundRect">
            <a:avLst/>
          </a:prstGeom>
          <a:solidFill>
            <a:srgbClr val="FFF7EB"/>
          </a:solidFill>
          <a:ln w="16510">
            <a:solidFill>
              <a:srgbClr val="E88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r>
              <a:rPr sz="1300" b="1">
                <a:solidFill>
                  <a:srgbClr val="E88B1C"/>
                </a:solidFill>
              </a:rPr>
              <a:t>机械组：天线位置、安装稳定、供电固定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9144000" cy="228600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排错原则：不要互相甩锅，先证明自己负责的那一层是正确的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0"/>
            <a:ext cx="914400" cy="731520"/>
          </a:xfrm>
          <a:prstGeom prst="rtTriangle">
            <a:avLst/>
          </a:prstGeom>
          <a:solidFill>
            <a:srgbClr val="124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0" y="0"/>
            <a:ext cx="594360" cy="457200"/>
          </a:xfrm>
          <a:prstGeom prst="rtTriangle">
            <a:avLst/>
          </a:prstGeom>
          <a:solidFill>
            <a:srgbClr val="0D9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A2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10835640" y="6355080"/>
            <a:ext cx="1353312" cy="502920"/>
          </a:xfrm>
          <a:prstGeom prst="rtTriangle">
            <a:avLst/>
          </a:prstGeom>
          <a:solidFill>
            <a:srgbClr val="0D9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2E1FF"/>
                </a:solidFill>
              </a:rPr>
              <a:t>RTK × UE 联调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46888"/>
            <a:ext cx="621792" cy="512064"/>
          </a:xfrm>
          <a:prstGeom prst="roundRect">
            <a:avLst/>
          </a:prstGeom>
          <a:solidFill>
            <a:srgbClr val="124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9184"/>
            <a:ext cx="100584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24CA3"/>
                </a:solidFill>
              </a:rPr>
              <a:t>联调验收标准：先证明链路通，再追求精度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96012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D949B"/>
                </a:solidFill>
              </a:rPr>
              <a:t>第一版验收看“真实移动 → UE 合理变化”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1197864"/>
            <a:ext cx="914400" cy="36576"/>
          </a:xfrm>
          <a:prstGeom prst="rect">
            <a:avLst/>
          </a:prstGeom>
          <a:solidFill>
            <a:srgbClr val="124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1417320"/>
            <a:ext cx="5166360" cy="365760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124CA3"/>
                </a:solidFill>
              </a:rPr>
              <a:t>最低验收标准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0242D"/>
                </a:solidFill>
              </a:rPr>
              <a:t>• 室外 RTK 能发布有效 /fix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0242D"/>
                </a:solidFill>
              </a:rPr>
              <a:t>• /R2UTopic_Pos 能稳定输出 JSON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0242D"/>
                </a:solidFill>
              </a:rPr>
              <a:t>• UE 能连接 NUC 的 rosbridge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0242D"/>
                </a:solidFill>
              </a:rPr>
              <a:t>• UE 能打印收到的位置 JSON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0242D"/>
                </a:solidFill>
              </a:rPr>
              <a:t>• UE 能把经纬度转换成校园地图位置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0242D"/>
                </a:solidFill>
              </a:rPr>
              <a:t>• 真实小车移动时，UE 模型位置同步变化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0242D"/>
                </a:solidFill>
              </a:rPr>
              <a:t>• 定位异常时，UE 有异常状态显示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20"/>
            <a:ext cx="50292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900" b="1">
                <a:solidFill>
                  <a:srgbClr val="124CA3"/>
                </a:solidFill>
              </a:rPr>
              <a:t>建议现场演示顺序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057400"/>
            <a:ext cx="457200" cy="329184"/>
          </a:xfrm>
          <a:prstGeom prst="roundRect">
            <a:avLst/>
          </a:prstGeom>
          <a:solidFill>
            <a:srgbClr val="0D9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039112"/>
            <a:ext cx="411480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50" b="0">
                <a:solidFill>
                  <a:srgbClr val="20242D"/>
                </a:solidFill>
              </a:rPr>
              <a:t>静止测试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12280" y="2386584"/>
            <a:ext cx="0" cy="146304"/>
          </a:xfrm>
          <a:prstGeom prst="line">
            <a:avLst/>
          </a:prstGeom>
          <a:ln w="13970">
            <a:solidFill>
              <a:srgbClr val="124C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583680" y="2560320"/>
            <a:ext cx="457200" cy="329184"/>
          </a:xfrm>
          <a:prstGeom prst="roundRect">
            <a:avLst/>
          </a:prstGeom>
          <a:solidFill>
            <a:srgbClr val="0D9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542032"/>
            <a:ext cx="411480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50" b="0">
                <a:solidFill>
                  <a:srgbClr val="20242D"/>
                </a:solidFill>
              </a:rPr>
              <a:t>推动/遥控移动 3–5 米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12280" y="2889504"/>
            <a:ext cx="0" cy="146304"/>
          </a:xfrm>
          <a:prstGeom prst="line">
            <a:avLst/>
          </a:prstGeom>
          <a:ln w="13970">
            <a:solidFill>
              <a:srgbClr val="124C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583680" y="3063240"/>
            <a:ext cx="457200" cy="329184"/>
          </a:xfrm>
          <a:prstGeom prst="roundRect">
            <a:avLst/>
          </a:prstGeom>
          <a:solidFill>
            <a:srgbClr val="124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044952"/>
            <a:ext cx="411480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50" b="0">
                <a:solidFill>
                  <a:srgbClr val="20242D"/>
                </a:solidFill>
              </a:rPr>
              <a:t>观察 /fix 变化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12280" y="3392424"/>
            <a:ext cx="0" cy="146304"/>
          </a:xfrm>
          <a:prstGeom prst="line">
            <a:avLst/>
          </a:prstGeom>
          <a:ln w="13970">
            <a:solidFill>
              <a:srgbClr val="124C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583680" y="3566160"/>
            <a:ext cx="457200" cy="329184"/>
          </a:xfrm>
          <a:prstGeom prst="roundRect">
            <a:avLst/>
          </a:prstGeom>
          <a:solidFill>
            <a:srgbClr val="124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547872"/>
            <a:ext cx="411480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50" b="0">
                <a:solidFill>
                  <a:srgbClr val="20242D"/>
                </a:solidFill>
              </a:rPr>
              <a:t>观察 /R2UTopic_Pos 变化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12280" y="3895344"/>
            <a:ext cx="0" cy="146304"/>
          </a:xfrm>
          <a:prstGeom prst="line">
            <a:avLst/>
          </a:prstGeom>
          <a:ln w="13970">
            <a:solidFill>
              <a:srgbClr val="124C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83680" y="4069080"/>
            <a:ext cx="457200" cy="329184"/>
          </a:xfrm>
          <a:prstGeom prst="roundRect">
            <a:avLst/>
          </a:prstGeom>
          <a:solidFill>
            <a:srgbClr val="124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4050792"/>
            <a:ext cx="411480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50" b="0">
                <a:solidFill>
                  <a:srgbClr val="20242D"/>
                </a:solidFill>
              </a:rPr>
              <a:t>观察 UE 模型移动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12280" y="4398264"/>
            <a:ext cx="0" cy="146304"/>
          </a:xfrm>
          <a:prstGeom prst="line">
            <a:avLst/>
          </a:prstGeom>
          <a:ln w="13970">
            <a:solidFill>
              <a:srgbClr val="124C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583680" y="4572000"/>
            <a:ext cx="457200" cy="329184"/>
          </a:xfrm>
          <a:prstGeom prst="roundRect">
            <a:avLst/>
          </a:prstGeom>
          <a:solidFill>
            <a:srgbClr val="124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4553712"/>
            <a:ext cx="411480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50" b="0">
                <a:solidFill>
                  <a:srgbClr val="20242D"/>
                </a:solidFill>
              </a:rPr>
              <a:t>记录轨迹点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12280" y="4901184"/>
            <a:ext cx="0" cy="146304"/>
          </a:xfrm>
          <a:prstGeom prst="line">
            <a:avLst/>
          </a:prstGeom>
          <a:ln w="13970">
            <a:solidFill>
              <a:srgbClr val="124C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583680" y="5074920"/>
            <a:ext cx="457200" cy="329184"/>
          </a:xfrm>
          <a:prstGeom prst="roundRect">
            <a:avLst/>
          </a:prstGeom>
          <a:solidFill>
            <a:srgbClr val="124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5056632"/>
            <a:ext cx="411480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50" b="0">
                <a:solidFill>
                  <a:srgbClr val="20242D"/>
                </a:solidFill>
              </a:rPr>
              <a:t>检查偏移和方向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577840"/>
            <a:ext cx="10515600" cy="594360"/>
          </a:xfrm>
          <a:prstGeom prst="roundRect">
            <a:avLst/>
          </a:prstGeom>
          <a:solidFill>
            <a:srgbClr val="FFF7EB"/>
          </a:solidFill>
          <a:ln w="16510">
            <a:solidFill>
              <a:srgbClr val="E88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800" b="1">
                <a:solidFill>
                  <a:srgbClr val="E88B1C"/>
                </a:solidFill>
              </a:rPr>
              <a:t>第一版不用追求厘米级完美贴合；先追求字段稳定、坐标方向正确、异常状态可见。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73952"/>
            <a:ext cx="9144000" cy="228600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阶段目标：能看见、能追踪、能排错、能复现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0"/>
            <a:ext cx="914400" cy="731520"/>
          </a:xfrm>
          <a:prstGeom prst="rtTriangle">
            <a:avLst/>
          </a:prstGeom>
          <a:solidFill>
            <a:srgbClr val="124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0" y="0"/>
            <a:ext cx="594360" cy="457200"/>
          </a:xfrm>
          <a:prstGeom prst="rtTriangle">
            <a:avLst/>
          </a:prstGeom>
          <a:solidFill>
            <a:srgbClr val="0D9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A2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10835640" y="6355080"/>
            <a:ext cx="1353312" cy="502920"/>
          </a:xfrm>
          <a:prstGeom prst="rtTriangle">
            <a:avLst/>
          </a:prstGeom>
          <a:solidFill>
            <a:srgbClr val="0D9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2E1FF"/>
                </a:solidFill>
              </a:rPr>
              <a:t>RTK × UE 联调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46888"/>
            <a:ext cx="621792" cy="512064"/>
          </a:xfrm>
          <a:prstGeom prst="roundRect">
            <a:avLst/>
          </a:prstGeom>
          <a:solidFill>
            <a:srgbClr val="124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9184"/>
            <a:ext cx="100584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24CA3"/>
                </a:solidFill>
              </a:rPr>
              <a:t>给 UE 工程师的现场对接清单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96012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D949B"/>
                </a:solidFill>
              </a:rPr>
              <a:t>这页可以直接作为联调 checklist 使用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1197864"/>
            <a:ext cx="914400" cy="36576"/>
          </a:xfrm>
          <a:prstGeom prst="rect">
            <a:avLst/>
          </a:prstGeom>
          <a:solidFill>
            <a:srgbClr val="124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1417320"/>
            <a:ext cx="3383280" cy="1371600"/>
          </a:xfrm>
          <a:prstGeom prst="roundRect">
            <a:avLst/>
          </a:prstGeom>
          <a:solidFill>
            <a:srgbClr val="EBF3FF"/>
          </a:solidFill>
          <a:ln w="16510">
            <a:solidFill>
              <a:srgbClr val="12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20000"/>
          </a:bodyPr>
          <a:lstStyle/>
          <a:p>
            <a:pPr algn="ctr"/>
            <a:r>
              <a:rPr sz="1800" b="1">
                <a:solidFill>
                  <a:srgbClr val="124CA3"/>
                </a:solidFill>
              </a:rPr>
              <a:t>连接地址</a:t>
            </a:r>
          </a:p>
          <a:p>
            <a:pPr algn="ctr"/>
            <a:r>
              <a:rPr sz="1800" b="1">
                <a:solidFill>
                  <a:srgbClr val="124CA3"/>
                </a:solidFill>
              </a:rPr>
              <a:t>tcp://&lt;NUC_IP&gt;:9090</a:t>
            </a:r>
          </a:p>
          <a:p>
            <a:pPr algn="ctr"/>
            <a:endParaRPr sz="1800" b="1">
              <a:solidFill>
                <a:srgbClr val="124CA3"/>
              </a:solidFill>
            </a:endParaRPr>
          </a:p>
          <a:p>
            <a:pPr algn="ctr"/>
            <a:r>
              <a:rPr sz="1800" b="1">
                <a:solidFill>
                  <a:srgbClr val="124CA3"/>
                </a:solidFill>
              </a:rPr>
              <a:t>订阅话题</a:t>
            </a:r>
          </a:p>
          <a:p>
            <a:pPr algn="ctr"/>
            <a:r>
              <a:rPr sz="1800" b="1">
                <a:solidFill>
                  <a:srgbClr val="124CA3"/>
                </a:solidFill>
              </a:rPr>
              <a:t>/R2UTopic_Pos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337560" cy="1371600"/>
          </a:xfrm>
          <a:prstGeom prst="roundRect">
            <a:avLst/>
          </a:prstGeom>
          <a:solidFill>
            <a:srgbClr val="E8F9F8"/>
          </a:solidFill>
          <a:ln w="16510">
            <a:solidFill>
              <a:srgbClr val="0D94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r>
              <a:rPr sz="1700" b="1">
                <a:solidFill>
                  <a:srgbClr val="0D949B"/>
                </a:solidFill>
              </a:rPr>
              <a:t>数据类型</a:t>
            </a:r>
          </a:p>
          <a:p>
            <a:pPr algn="ctr"/>
            <a:r>
              <a:rPr sz="1700" b="1">
                <a:solidFill>
                  <a:srgbClr val="0D949B"/>
                </a:solidFill>
              </a:rPr>
              <a:t>std_msgs/String</a:t>
            </a:r>
          </a:p>
          <a:p>
            <a:pPr algn="ctr"/>
            <a:endParaRPr sz="1700" b="1">
              <a:solidFill>
                <a:srgbClr val="0D949B"/>
              </a:solidFill>
            </a:endParaRPr>
          </a:p>
          <a:p>
            <a:pPr algn="ctr"/>
            <a:r>
              <a:rPr sz="1700" b="1">
                <a:solidFill>
                  <a:srgbClr val="0D949B"/>
                </a:solidFill>
              </a:rPr>
              <a:t>消息内容</a:t>
            </a:r>
          </a:p>
          <a:p>
            <a:pPr algn="ctr"/>
            <a:r>
              <a:rPr sz="1700" b="1">
                <a:solidFill>
                  <a:srgbClr val="0D949B"/>
                </a:solidFill>
              </a:rPr>
              <a:t>String.data = JSON 字符串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337560" cy="1371600"/>
          </a:xfrm>
          <a:prstGeom prst="roundRect">
            <a:avLst/>
          </a:prstGeom>
          <a:solidFill>
            <a:srgbClr val="FFF2F2"/>
          </a:solidFill>
          <a:ln w="16510">
            <a:solidFill>
              <a:srgbClr val="D2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>
                <a:solidFill>
                  <a:srgbClr val="D23030"/>
                </a:solidFill>
              </a:rPr>
              <a:t>异常状态</a:t>
            </a:r>
          </a:p>
          <a:p>
            <a:pPr algn="ctr"/>
            <a:r>
              <a:rPr sz="1600" b="1">
                <a:solidFill>
                  <a:srgbClr val="D23030"/>
                </a:solidFill>
              </a:rPr>
              <a:t>NO_FIX / TIMEOUT</a:t>
            </a:r>
          </a:p>
          <a:p>
            <a:pPr algn="ctr"/>
            <a:r>
              <a:rPr sz="1600" b="1">
                <a:solidFill>
                  <a:srgbClr val="D23030"/>
                </a:solidFill>
              </a:rPr>
              <a:t>JSON_ERROR / NETWORK_LOST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77240" y="3154680"/>
          <a:ext cx="10698479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0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0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7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289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必须解析字段</a:t>
                      </a:r>
                    </a:p>
                  </a:txBody>
                  <a:tcPr>
                    <a:solidFill>
                      <a:srgbClr val="124C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坐标转换参数</a:t>
                      </a:r>
                    </a:p>
                  </a:txBody>
                  <a:tcPr>
                    <a:solidFill>
                      <a:srgbClr val="124C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调试日志建议</a:t>
                      </a:r>
                    </a:p>
                  </a:txBody>
                  <a:tcPr>
                    <a:solidFill>
                      <a:srgbClr val="124C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42D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2D"/>
                          </a:solidFill>
                        </a:rPr>
                        <a:t>origin_lat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2D"/>
                          </a:solidFill>
                        </a:rPr>
                        <a:t>原始 JSON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42D"/>
                          </a:solidFill>
                        </a:rPr>
                        <a:t>status_name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2D"/>
                          </a:solidFill>
                        </a:rPr>
                        <a:t>origin_lon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2D"/>
                          </a:solidFill>
                        </a:rPr>
                        <a:t>解析后的经纬度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42D"/>
                          </a:solidFill>
                        </a:rPr>
                        <a:t>latitude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2D"/>
                          </a:solidFill>
                        </a:rPr>
                        <a:t>scale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2D"/>
                          </a:solidFill>
                        </a:rPr>
                        <a:t>转换后的 UE 坐标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42D"/>
                          </a:solidFill>
                        </a:rPr>
                        <a:t>longitude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2D"/>
                          </a:solidFill>
                        </a:rPr>
                        <a:t>axis_mapping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2D"/>
                          </a:solidFill>
                        </a:rPr>
                        <a:t>模型实际位置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42D"/>
                          </a:solidFill>
                        </a:rPr>
                        <a:t>altitude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2D"/>
                          </a:solidFill>
                        </a:rPr>
                        <a:t>rotation_offset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2D"/>
                          </a:solidFill>
                        </a:rPr>
                        <a:t>错误信息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42D"/>
                          </a:solidFill>
                        </a:rPr>
                        <a:t>timestamp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2D"/>
                          </a:solidFill>
                        </a:rPr>
                        <a:t>height_offset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2D"/>
                          </a:solidFill>
                        </a:rPr>
                        <a:t>连接状态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242D"/>
                          </a:solidFill>
                        </a:rPr>
                        <a:t>frame_id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2D"/>
                          </a:solidFill>
                        </a:rPr>
                        <a:t>heading_offset（可选）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2D"/>
                          </a:solidFill>
                        </a:rPr>
                        <a:t>时间戳延迟</a:t>
                      </a:r>
                    </a:p>
                  </a:txBody>
                  <a:tcPr>
                    <a:solidFill>
                      <a:srgbClr val="F9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777240" y="5742432"/>
            <a:ext cx="10561320" cy="475488"/>
          </a:xfrm>
          <a:prstGeom prst="roundRect">
            <a:avLst/>
          </a:prstGeom>
          <a:solidFill>
            <a:srgbClr val="FFF7EB"/>
          </a:solidFill>
          <a:ln w="16510">
            <a:solidFill>
              <a:srgbClr val="E88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700" b="1">
                <a:solidFill>
                  <a:srgbClr val="E88B1C"/>
                </a:solidFill>
              </a:rPr>
              <a:t>建议 UE 调试面板同时显示：原始 JSON、解析结果、UE 坐标、模型当前位置。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9144000" cy="228600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现场交付：UE 能打印、能解析、能映射、能显示异常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CDA5FBB4-ED1F-DD7D-04E9-B23E2F9C2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20167D65-97ED-AEF7-2947-AC0038A9223C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C96D9AA1-27D5-FBD1-28D0-F3BFC4968858}"/>
              </a:ext>
            </a:extLst>
          </p:cNvPr>
          <p:cNvSpPr txBox="1"/>
          <p:nvPr/>
        </p:nvSpPr>
        <p:spPr>
          <a:xfrm>
            <a:off x="1127125" y="2834903"/>
            <a:ext cx="99377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600" b="1" i="0" u="none" strike="noStrike" cap="none" dirty="0">
                <a:solidFill>
                  <a:srgbClr val="F8FAF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答疑时间</a:t>
            </a:r>
            <a:endParaRPr lang="en-US" altLang="zh-CN" sz="6600" b="1" i="0" u="none" strike="noStrike" cap="none" dirty="0">
              <a:solidFill>
                <a:srgbClr val="F8FAF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3" name="图片 2" descr="GZ+SOCH White">
            <a:extLst>
              <a:ext uri="{FF2B5EF4-FFF2-40B4-BE49-F238E27FC236}">
                <a16:creationId xmlns:a16="http://schemas.microsoft.com/office/drawing/2014/main" id="{EBED71C7-1DB6-FE7B-F8DA-4E31427CD4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624" r="31738"/>
          <a:stretch>
            <a:fillRect/>
          </a:stretch>
        </p:blipFill>
        <p:spPr>
          <a:xfrm>
            <a:off x="182880" y="270510"/>
            <a:ext cx="3330575" cy="53975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F17383A-215D-7B6D-793D-02BFD42EE56F}"/>
              </a:ext>
            </a:extLst>
          </p:cNvPr>
          <p:cNvSpPr txBox="1"/>
          <p:nvPr/>
        </p:nvSpPr>
        <p:spPr>
          <a:xfrm>
            <a:off x="8947785" y="270510"/>
            <a:ext cx="31134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 </a:t>
            </a:r>
            <a:r>
              <a:rPr lang="zh-CN" altLang="en-US" sz="2400">
                <a:solidFill>
                  <a:schemeClr val="bg1"/>
                </a:solidFill>
                <a:latin typeface="汉仪颜楷简" panose="00020600040101010101" charset="-122"/>
                <a:ea typeface="汉仪颜楷简" panose="00020600040101010101" charset="-122"/>
                <a:sym typeface="+mn-ea"/>
              </a:rPr>
              <a:t>以技造物，智联校园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ED62A93-11BD-C9A9-0061-7177607CF1C0}"/>
              </a:ext>
            </a:extLst>
          </p:cNvPr>
          <p:cNvSpPr txBox="1"/>
          <p:nvPr/>
        </p:nvSpPr>
        <p:spPr>
          <a:xfrm>
            <a:off x="4833620" y="270510"/>
            <a:ext cx="2794000" cy="4889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Cyber 鲁班</a:t>
            </a: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 2</a:t>
            </a: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Space Grotesk"/>
              </a:rPr>
              <a:t>026         </a:t>
            </a:r>
            <a:endParaRPr lang="zh-CN" altLang="en-US" sz="2400">
              <a:solidFill>
                <a:schemeClr val="bg1"/>
              </a:solidFill>
              <a:latin typeface="汉仪颜楷简" panose="00020600040101010101" charset="-122"/>
              <a:ea typeface="汉仪颜楷简" panose="0002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6828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2241</Words>
  <Application>Microsoft Office PowerPoint</Application>
  <PresentationFormat>宽屏</PresentationFormat>
  <Paragraphs>643</Paragraphs>
  <Slides>29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9" baseType="lpstr">
      <vt:lpstr>Inter</vt:lpstr>
      <vt:lpstr>Noto Sans CJK SC</vt:lpstr>
      <vt:lpstr>等线</vt:lpstr>
      <vt:lpstr>等线 Light</vt:lpstr>
      <vt:lpstr>汉仪颜楷简</vt:lpstr>
      <vt:lpstr>Microsoft YaHei</vt:lpstr>
      <vt:lpstr>Microsoft YaHei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郅迅 林</dc:creator>
  <cp:lastModifiedBy>郅迅 林</cp:lastModifiedBy>
  <cp:revision>3</cp:revision>
  <dcterms:created xsi:type="dcterms:W3CDTF">2026-06-11T06:44:58Z</dcterms:created>
  <dcterms:modified xsi:type="dcterms:W3CDTF">2026-06-15T19:08:08Z</dcterms:modified>
</cp:coreProperties>
</file>